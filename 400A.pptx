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 id="2147483687"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9144000" cy="5143500" type="screen16x9"/>
  <p:notesSz cx="6858000" cy="9144000"/>
  <p:embeddedFontLst>
    <p:embeddedFont>
      <p:font typeface="Merriweather" panose="00000500000000000000" pitchFamily="2" charset="0"/>
      <p:regular r:id="rId31"/>
      <p:bold r:id="rId32"/>
      <p:italic r:id="rId33"/>
      <p:boldItalic r:id="rId34"/>
    </p:embeddedFont>
    <p:embeddedFont>
      <p:font typeface="Merriweather Light" panose="00000400000000000000" pitchFamily="2" charset="0"/>
      <p:regular r:id="rId35"/>
      <p:bold r:id="rId36"/>
      <p:italic r:id="rId37"/>
      <p:boldItalic r:id="rId38"/>
    </p:embeddedFont>
    <p:embeddedFont>
      <p:font typeface="Roboto"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CC0FA7-014A-44FD-AD4A-AEC336675D45}">
  <a:tblStyle styleId="{A2CC0FA7-014A-44FD-AD4A-AEC336675D45}" styleName="Table_0">
    <a:wholeTbl>
      <a:tcTxStyle b="off" i="off">
        <a:font>
          <a:latin typeface="Arial"/>
          <a:ea typeface="Arial"/>
          <a:cs typeface="Arial"/>
        </a:font>
        <a:schemeClr val="dk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40000"/>
            </a:schemeClr>
          </a:solidFill>
        </a:fill>
      </a:tcStyle>
    </a:band1H>
    <a:band2H>
      <a:tcTxStyle/>
      <a:tcStyle>
        <a:tcBdr/>
      </a:tcStyle>
    </a:band2H>
    <a:band1V>
      <a:tcTxStyle/>
      <a:tcStyle>
        <a:tcBdr>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tcBdr>
        <a:fill>
          <a:solidFill>
            <a:schemeClr val="accent3">
              <a:alpha val="40000"/>
            </a:schemeClr>
          </a:solidFill>
        </a:fill>
      </a:tcStyle>
    </a:band1V>
    <a:band2V>
      <a:tcTxStyle/>
      <a:tcStyle>
        <a:tcBdr/>
      </a:tcStyle>
    </a:band2V>
    <a:la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3"/>
          </a:solidFill>
        </a:fill>
      </a:tcStyle>
    </a:firstRow>
    <a:neCell>
      <a:tcTxStyle/>
      <a:tcStyle>
        <a:tcBdr/>
      </a:tcStyle>
    </a:neCell>
    <a:nwCell>
      <a:tcTxStyle/>
      <a:tcStyle>
        <a:tcBdr/>
      </a:tcStyle>
    </a:nwCell>
  </a:tblStyle>
  <a:tblStyle styleId="{B3745F00-3E2A-4D54-8D2C-54AC2756F4C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0" d="100"/>
          <a:sy n="140" d="100"/>
        </p:scale>
        <p:origin x="774" y="108"/>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9.fntdata"/><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9822e55c29_8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39822e55c29_8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9822e55c29_8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9822e55c29_8_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982f604861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982f604861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9822e55c29_8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39822e55c29_8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9822e55c29_8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9822e55c29_8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9822e55c29_8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39822e55c29_8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9822e55c29_8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g39822e55c29_8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1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9822e55c29_8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9822e55c29_8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2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9822e55c29_8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9822e55c29_8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9822e55c29_8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9822e55c29_8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9822e55c29_8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39822e55c29_8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9822e55c29_8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g39822e55c29_8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9822e55c29_8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g39822e55c29_8_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9822e55c29_8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9" name="Google Shape;309;g39822e55c29_8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9822e55c29_8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g39822e55c29_8_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9822e55c29_8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39822e55c29_8_1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9822e55c29_8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g39822e55c29_8_1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9822e55c29_8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39822e55c29_8_1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9822e55c29_8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1" name="Google Shape;341;g39822e55c29_8_1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p3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3">
  <p:cSld name="CUSTOM_2">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
        <p:cNvGrpSpPr/>
        <p:nvPr/>
      </p:nvGrpSpPr>
      <p:grpSpPr>
        <a:xfrm>
          <a:off x="0" y="0"/>
          <a:ext cx="0" cy="0"/>
          <a:chOff x="0" y="0"/>
          <a:chExt cx="0" cy="0"/>
        </a:xfrm>
      </p:grpSpPr>
      <p:sp>
        <p:nvSpPr>
          <p:cNvPr id="17" name="Google Shape;17;p4"/>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5"/>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23" name="Google Shape;23;p5"/>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4" name="Google Shape;24;p5"/>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5" name="Google Shape;25;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5">
  <p:cSld name="CUSTOM_4">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8"/>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8"/>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33" name="Google Shape;33;p8"/>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4" name="Google Shape;34;p8"/>
          <p:cNvSpPr txBox="1">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5" name="Google Shape;35;p8"/>
          <p:cNvSpPr txBox="1">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6" name="Google Shape;3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4">
  <p:cSld name="CUSTOM_3">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6">
  <p:cSld name="CUSTOM_5">
    <p:spTree>
      <p:nvGrpSpPr>
        <p:cNvPr id="1" name="Shape 39"/>
        <p:cNvGrpSpPr/>
        <p:nvPr/>
      </p:nvGrpSpPr>
      <p:grpSpPr>
        <a:xfrm>
          <a:off x="0" y="0"/>
          <a:ext cx="0" cy="0"/>
          <a:chOff x="0" y="0"/>
          <a:chExt cx="0" cy="0"/>
        </a:xfrm>
      </p:grpSpPr>
      <p:sp>
        <p:nvSpPr>
          <p:cNvPr id="40" name="Google Shape;40;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7">
  <p:cSld name="CUSTOM_6">
    <p:spTree>
      <p:nvGrpSpPr>
        <p:cNvPr id="1" name="Shape 41"/>
        <p:cNvGrpSpPr/>
        <p:nvPr/>
      </p:nvGrpSpPr>
      <p:grpSpPr>
        <a:xfrm>
          <a:off x="0" y="0"/>
          <a:ext cx="0" cy="0"/>
          <a:chOff x="0" y="0"/>
          <a:chExt cx="0" cy="0"/>
        </a:xfrm>
      </p:grpSpPr>
      <p:sp>
        <p:nvSpPr>
          <p:cNvPr id="42" name="Google Shape;42;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8">
  <p:cSld name="CUSTOM_7">
    <p:spTree>
      <p:nvGrpSpPr>
        <p:cNvPr id="1" name="Shape 43"/>
        <p:cNvGrpSpPr/>
        <p:nvPr/>
      </p:nvGrpSpPr>
      <p:grpSpPr>
        <a:xfrm>
          <a:off x="0" y="0"/>
          <a:ext cx="0" cy="0"/>
          <a:chOff x="0" y="0"/>
          <a:chExt cx="0" cy="0"/>
        </a:xfrm>
      </p:grpSpPr>
      <p:sp>
        <p:nvSpPr>
          <p:cNvPr id="44" name="Google Shape;44;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9">
  <p:cSld name="CUSTOM_8">
    <p:spTree>
      <p:nvGrpSpPr>
        <p:cNvPr id="1" name="Shape 45"/>
        <p:cNvGrpSpPr/>
        <p:nvPr/>
      </p:nvGrpSpPr>
      <p:grpSpPr>
        <a:xfrm>
          <a:off x="0" y="0"/>
          <a:ext cx="0" cy="0"/>
          <a:chOff x="0" y="0"/>
          <a:chExt cx="0" cy="0"/>
        </a:xfrm>
      </p:grpSpPr>
      <p:sp>
        <p:nvSpPr>
          <p:cNvPr id="46" name="Google Shape;46;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0">
  <p:cSld name="CUSTOM_9">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11">
  <p:cSld name="CUSTOM_10">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ustom Layout 12">
  <p:cSld name="CUSTOM_11">
    <p:spTree>
      <p:nvGrpSpPr>
        <p:cNvPr id="1" name="Shape 51"/>
        <p:cNvGrpSpPr/>
        <p:nvPr/>
      </p:nvGrpSpPr>
      <p:grpSpPr>
        <a:xfrm>
          <a:off x="0" y="0"/>
          <a:ext cx="0" cy="0"/>
          <a:chOff x="0" y="0"/>
          <a:chExt cx="0" cy="0"/>
        </a:xfrm>
      </p:grpSpPr>
      <p:sp>
        <p:nvSpPr>
          <p:cNvPr id="52" name="Google Shape;5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ustom Layout 13">
  <p:cSld name="CUSTOM_12">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ustom Layout 14">
  <p:cSld name="CUSTOM_13">
    <p:spTree>
      <p:nvGrpSpPr>
        <p:cNvPr id="1" name="Shape 55"/>
        <p:cNvGrpSpPr/>
        <p:nvPr/>
      </p:nvGrpSpPr>
      <p:grpSpPr>
        <a:xfrm>
          <a:off x="0" y="0"/>
          <a:ext cx="0" cy="0"/>
          <a:chOff x="0" y="0"/>
          <a:chExt cx="0" cy="0"/>
        </a:xfrm>
      </p:grpSpPr>
      <p:sp>
        <p:nvSpPr>
          <p:cNvPr id="56" name="Google Shape;5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15">
  <p:cSld name="CUSTOM_14">
    <p:spTree>
      <p:nvGrpSpPr>
        <p:cNvPr id="1" name="Shape 57"/>
        <p:cNvGrpSpPr/>
        <p:nvPr/>
      </p:nvGrpSpPr>
      <p:grpSpPr>
        <a:xfrm>
          <a:off x="0" y="0"/>
          <a:ext cx="0" cy="0"/>
          <a:chOff x="0" y="0"/>
          <a:chExt cx="0" cy="0"/>
        </a:xfrm>
      </p:grpSpPr>
      <p:sp>
        <p:nvSpPr>
          <p:cNvPr id="58" name="Google Shape;58;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ustom Layout 16">
  <p:cSld name="CUSTOM_15">
    <p:spTree>
      <p:nvGrpSpPr>
        <p:cNvPr id="1" name="Shape 59"/>
        <p:cNvGrpSpPr/>
        <p:nvPr/>
      </p:nvGrpSpPr>
      <p:grpSpPr>
        <a:xfrm>
          <a:off x="0" y="0"/>
          <a:ext cx="0" cy="0"/>
          <a:chOff x="0" y="0"/>
          <a:chExt cx="0" cy="0"/>
        </a:xfrm>
      </p:grpSpPr>
      <p:sp>
        <p:nvSpPr>
          <p:cNvPr id="60" name="Google Shape;60;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ustom Layout 17">
  <p:cSld name="CUSTOM_16">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Layout 18">
  <p:cSld name="CUSTOM_17">
    <p:spTree>
      <p:nvGrpSpPr>
        <p:cNvPr id="1" name="Shape 63"/>
        <p:cNvGrpSpPr/>
        <p:nvPr/>
      </p:nvGrpSpPr>
      <p:grpSpPr>
        <a:xfrm>
          <a:off x="0" y="0"/>
          <a:ext cx="0" cy="0"/>
          <a:chOff x="0" y="0"/>
          <a:chExt cx="0" cy="0"/>
        </a:xfrm>
      </p:grpSpPr>
      <p:sp>
        <p:nvSpPr>
          <p:cNvPr id="64" name="Google Shape;64;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ustom Layout 19">
  <p:cSld name="CUSTOM_18">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20">
  <p:cSld name="CUSTOM_19">
    <p:spTree>
      <p:nvGrpSpPr>
        <p:cNvPr id="1" name="Shape 67"/>
        <p:cNvGrpSpPr/>
        <p:nvPr/>
      </p:nvGrpSpPr>
      <p:grpSpPr>
        <a:xfrm>
          <a:off x="0" y="0"/>
          <a:ext cx="0" cy="0"/>
          <a:chOff x="0" y="0"/>
          <a:chExt cx="0" cy="0"/>
        </a:xfrm>
      </p:grpSpPr>
      <p:sp>
        <p:nvSpPr>
          <p:cNvPr id="68" name="Google Shape;68;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Layout 21">
  <p:cSld name="CUSTOM_20">
    <p:spTree>
      <p:nvGrpSpPr>
        <p:cNvPr id="1" name="Shape 69"/>
        <p:cNvGrpSpPr/>
        <p:nvPr/>
      </p:nvGrpSpPr>
      <p:grpSpPr>
        <a:xfrm>
          <a:off x="0" y="0"/>
          <a:ext cx="0" cy="0"/>
          <a:chOff x="0" y="0"/>
          <a:chExt cx="0" cy="0"/>
        </a:xfrm>
      </p:grpSpPr>
      <p:sp>
        <p:nvSpPr>
          <p:cNvPr id="70" name="Google Shape;70;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Layout 22">
  <p:cSld name="CUSTOM_21">
    <p:spTree>
      <p:nvGrpSpPr>
        <p:cNvPr id="1" name="Shape 71"/>
        <p:cNvGrpSpPr/>
        <p:nvPr/>
      </p:nvGrpSpPr>
      <p:grpSpPr>
        <a:xfrm>
          <a:off x="0" y="0"/>
          <a:ext cx="0" cy="0"/>
          <a:chOff x="0" y="0"/>
          <a:chExt cx="0" cy="0"/>
        </a:xfrm>
      </p:grpSpPr>
      <p:sp>
        <p:nvSpPr>
          <p:cNvPr id="72" name="Google Shape;72;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ustom Layout 23">
  <p:cSld name="CUSTOM_22">
    <p:spTree>
      <p:nvGrpSpPr>
        <p:cNvPr id="1" name="Shape 73"/>
        <p:cNvGrpSpPr/>
        <p:nvPr/>
      </p:nvGrpSpPr>
      <p:grpSpPr>
        <a:xfrm>
          <a:off x="0" y="0"/>
          <a:ext cx="0" cy="0"/>
          <a:chOff x="0" y="0"/>
          <a:chExt cx="0" cy="0"/>
        </a:xfrm>
      </p:grpSpPr>
      <p:sp>
        <p:nvSpPr>
          <p:cNvPr id="74" name="Google Shape;74;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ustom Layout 24">
  <p:cSld name="CUSTOM_23">
    <p:spTree>
      <p:nvGrpSpPr>
        <p:cNvPr id="1" name="Shape 75"/>
        <p:cNvGrpSpPr/>
        <p:nvPr/>
      </p:nvGrpSpPr>
      <p:grpSpPr>
        <a:xfrm>
          <a:off x="0" y="0"/>
          <a:ext cx="0" cy="0"/>
          <a:chOff x="0" y="0"/>
          <a:chExt cx="0" cy="0"/>
        </a:xfrm>
      </p:grpSpPr>
      <p:sp>
        <p:nvSpPr>
          <p:cNvPr id="76" name="Google Shape;76;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Layout 25">
  <p:cSld name="CUSTOM_24">
    <p:spTree>
      <p:nvGrpSpPr>
        <p:cNvPr id="1" name="Shape 77"/>
        <p:cNvGrpSpPr/>
        <p:nvPr/>
      </p:nvGrpSpPr>
      <p:grpSpPr>
        <a:xfrm>
          <a:off x="0" y="0"/>
          <a:ext cx="0" cy="0"/>
          <a:chOff x="0" y="0"/>
          <a:chExt cx="0" cy="0"/>
        </a:xfrm>
      </p:grpSpPr>
      <p:sp>
        <p:nvSpPr>
          <p:cNvPr id="78" name="Google Shape;7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26">
  <p:cSld name="CUSTOM_25">
    <p:spTree>
      <p:nvGrpSpPr>
        <p:cNvPr id="1" name="Shape 79"/>
        <p:cNvGrpSpPr/>
        <p:nvPr/>
      </p:nvGrpSpPr>
      <p:grpSpPr>
        <a:xfrm>
          <a:off x="0" y="0"/>
          <a:ext cx="0" cy="0"/>
          <a:chOff x="0" y="0"/>
          <a:chExt cx="0" cy="0"/>
        </a:xfrm>
      </p:grpSpPr>
      <p:sp>
        <p:nvSpPr>
          <p:cNvPr id="80" name="Google Shape;80;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ustom Layout 27">
  <p:cSld name="CUSTOM_26">
    <p:spTree>
      <p:nvGrpSpPr>
        <p:cNvPr id="1" name="Shape 81"/>
        <p:cNvGrpSpPr/>
        <p:nvPr/>
      </p:nvGrpSpPr>
      <p:grpSpPr>
        <a:xfrm>
          <a:off x="0" y="0"/>
          <a:ext cx="0" cy="0"/>
          <a:chOff x="0" y="0"/>
          <a:chExt cx="0" cy="0"/>
        </a:xfrm>
      </p:grpSpPr>
      <p:sp>
        <p:nvSpPr>
          <p:cNvPr id="82" name="Google Shape;82;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83"/>
        <p:cNvGrpSpPr/>
        <p:nvPr/>
      </p:nvGrpSpPr>
      <p:grpSpPr>
        <a:xfrm>
          <a:off x="0" y="0"/>
          <a:ext cx="0" cy="0"/>
          <a:chOff x="0" y="0"/>
          <a:chExt cx="0" cy="0"/>
        </a:xfrm>
      </p:grpSpPr>
      <p:sp>
        <p:nvSpPr>
          <p:cNvPr id="84" name="Google Shape;84;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85"/>
        <p:cNvGrpSpPr/>
        <p:nvPr/>
      </p:nvGrpSpPr>
      <p:grpSpPr>
        <a:xfrm>
          <a:off x="0" y="0"/>
          <a:ext cx="0" cy="0"/>
          <a:chOff x="0" y="0"/>
          <a:chExt cx="0" cy="0"/>
        </a:xfrm>
      </p:grpSpPr>
      <p:sp>
        <p:nvSpPr>
          <p:cNvPr id="86" name="Google Shape;86;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7"/>
        <p:cNvGrpSpPr/>
        <p:nvPr/>
      </p:nvGrpSpPr>
      <p:grpSpPr>
        <a:xfrm>
          <a:off x="0" y="0"/>
          <a:ext cx="0" cy="0"/>
          <a:chOff x="0" y="0"/>
          <a:chExt cx="0" cy="0"/>
        </a:xfrm>
      </p:grpSpPr>
      <p:sp>
        <p:nvSpPr>
          <p:cNvPr id="88" name="Google Shape;88;p34"/>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34"/>
          <p:cNvSpPr txBox="1">
            <a:spLocks noGrp="1"/>
          </p:cNvSpPr>
          <p:nvPr>
            <p:ph type="title"/>
          </p:nvPr>
        </p:nvSpPr>
        <p:spPr>
          <a:xfrm>
            <a:off x="311725" y="500925"/>
            <a:ext cx="3127500" cy="1829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90" name="Google Shape;90;p34"/>
          <p:cNvSpPr txBox="1">
            <a:spLocks noGrp="1"/>
          </p:cNvSpPr>
          <p:nvPr>
            <p:ph type="body" idx="1"/>
          </p:nvPr>
        </p:nvSpPr>
        <p:spPr>
          <a:xfrm>
            <a:off x="311700" y="2390650"/>
            <a:ext cx="3127500" cy="22980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0"/>
              </a:spcBef>
              <a:spcAft>
                <a:spcPts val="0"/>
              </a:spcAft>
              <a:buClr>
                <a:schemeClr val="accent2"/>
              </a:buClr>
              <a:buSzPts val="1100"/>
              <a:buChar char="○"/>
              <a:defRPr>
                <a:solidFill>
                  <a:schemeClr val="accent2"/>
                </a:solidFill>
              </a:defRPr>
            </a:lvl2pPr>
            <a:lvl3pPr marL="1371600" lvl="2" indent="-298450" algn="l">
              <a:lnSpc>
                <a:spcPct val="115000"/>
              </a:lnSpc>
              <a:spcBef>
                <a:spcPts val="0"/>
              </a:spcBef>
              <a:spcAft>
                <a:spcPts val="0"/>
              </a:spcAft>
              <a:buClr>
                <a:schemeClr val="accent2"/>
              </a:buClr>
              <a:buSzPts val="1100"/>
              <a:buChar char="■"/>
              <a:defRPr>
                <a:solidFill>
                  <a:schemeClr val="accent2"/>
                </a:solidFill>
              </a:defRPr>
            </a:lvl3pPr>
            <a:lvl4pPr marL="1828800" lvl="3" indent="-298450" algn="l">
              <a:lnSpc>
                <a:spcPct val="115000"/>
              </a:lnSpc>
              <a:spcBef>
                <a:spcPts val="0"/>
              </a:spcBef>
              <a:spcAft>
                <a:spcPts val="0"/>
              </a:spcAft>
              <a:buClr>
                <a:schemeClr val="accent2"/>
              </a:buClr>
              <a:buSzPts val="1100"/>
              <a:buChar char="●"/>
              <a:defRPr>
                <a:solidFill>
                  <a:schemeClr val="accent2"/>
                </a:solidFill>
              </a:defRPr>
            </a:lvl4pPr>
            <a:lvl5pPr marL="2286000" lvl="4" indent="-298450" algn="l">
              <a:lnSpc>
                <a:spcPct val="115000"/>
              </a:lnSpc>
              <a:spcBef>
                <a:spcPts val="0"/>
              </a:spcBef>
              <a:spcAft>
                <a:spcPts val="0"/>
              </a:spcAft>
              <a:buClr>
                <a:schemeClr val="accent2"/>
              </a:buClr>
              <a:buSzPts val="1100"/>
              <a:buChar char="○"/>
              <a:defRPr>
                <a:solidFill>
                  <a:schemeClr val="accent2"/>
                </a:solidFill>
              </a:defRPr>
            </a:lvl5pPr>
            <a:lvl6pPr marL="2743200" lvl="5" indent="-298450" algn="l">
              <a:lnSpc>
                <a:spcPct val="115000"/>
              </a:lnSpc>
              <a:spcBef>
                <a:spcPts val="0"/>
              </a:spcBef>
              <a:spcAft>
                <a:spcPts val="0"/>
              </a:spcAft>
              <a:buClr>
                <a:schemeClr val="accent2"/>
              </a:buClr>
              <a:buSzPts val="1100"/>
              <a:buChar char="■"/>
              <a:defRPr>
                <a:solidFill>
                  <a:schemeClr val="accent2"/>
                </a:solidFill>
              </a:defRPr>
            </a:lvl6pPr>
            <a:lvl7pPr marL="3200400" lvl="6" indent="-298450" algn="l">
              <a:lnSpc>
                <a:spcPct val="115000"/>
              </a:lnSpc>
              <a:spcBef>
                <a:spcPts val="0"/>
              </a:spcBef>
              <a:spcAft>
                <a:spcPts val="0"/>
              </a:spcAft>
              <a:buClr>
                <a:schemeClr val="accent2"/>
              </a:buClr>
              <a:buSzPts val="1100"/>
              <a:buChar char="●"/>
              <a:defRPr>
                <a:solidFill>
                  <a:schemeClr val="accent2"/>
                </a:solidFill>
              </a:defRPr>
            </a:lvl7pPr>
            <a:lvl8pPr marL="3657600" lvl="7" indent="-298450" algn="l">
              <a:lnSpc>
                <a:spcPct val="115000"/>
              </a:lnSpc>
              <a:spcBef>
                <a:spcPts val="0"/>
              </a:spcBef>
              <a:spcAft>
                <a:spcPts val="0"/>
              </a:spcAft>
              <a:buClr>
                <a:schemeClr val="accent2"/>
              </a:buClr>
              <a:buSzPts val="1100"/>
              <a:buChar char="○"/>
              <a:defRPr>
                <a:solidFill>
                  <a:schemeClr val="accent2"/>
                </a:solidFill>
              </a:defRPr>
            </a:lvl8pPr>
            <a:lvl9pPr marL="4114800" lvl="8" indent="-298450" algn="l">
              <a:lnSpc>
                <a:spcPct val="115000"/>
              </a:lnSpc>
              <a:spcBef>
                <a:spcPts val="0"/>
              </a:spcBef>
              <a:spcAft>
                <a:spcPts val="0"/>
              </a:spcAft>
              <a:buClr>
                <a:schemeClr val="accent2"/>
              </a:buClr>
              <a:buSzPts val="1100"/>
              <a:buChar char="■"/>
              <a:defRPr>
                <a:solidFill>
                  <a:schemeClr val="accent2"/>
                </a:solidFill>
              </a:defRPr>
            </a:lvl9pPr>
          </a:lstStyle>
          <a:p>
            <a:endParaRPr/>
          </a:p>
        </p:txBody>
      </p:sp>
      <p:sp>
        <p:nvSpPr>
          <p:cNvPr id="91" name="Google Shape;91;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92"/>
        <p:cNvGrpSpPr/>
        <p:nvPr/>
      </p:nvGrpSpPr>
      <p:grpSpPr>
        <a:xfrm>
          <a:off x="0" y="0"/>
          <a:ext cx="0" cy="0"/>
          <a:chOff x="0" y="0"/>
          <a:chExt cx="0" cy="0"/>
        </a:xfrm>
      </p:grpSpPr>
      <p:sp>
        <p:nvSpPr>
          <p:cNvPr id="93" name="Google Shape;93;p35"/>
          <p:cNvSpPr txBox="1">
            <a:spLocks noGrp="1"/>
          </p:cNvSpPr>
          <p:nvPr>
            <p:ph type="title"/>
          </p:nvPr>
        </p:nvSpPr>
        <p:spPr>
          <a:xfrm>
            <a:off x="311675" y="798600"/>
            <a:ext cx="6247800" cy="35463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94" name="Google Shape;94;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
        <p:cNvGrpSpPr/>
        <p:nvPr/>
      </p:nvGrpSpPr>
      <p:grpSpPr>
        <a:xfrm>
          <a:off x="0" y="0"/>
          <a:ext cx="0" cy="0"/>
          <a:chOff x="0" y="0"/>
          <a:chExt cx="0" cy="0"/>
        </a:xfrm>
      </p:grpSpPr>
      <p:sp>
        <p:nvSpPr>
          <p:cNvPr id="96" name="Google Shape;96;p36"/>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36"/>
          <p:cNvSpPr txBox="1">
            <a:spLocks noGrp="1"/>
          </p:cNvSpPr>
          <p:nvPr>
            <p:ph type="title"/>
          </p:nvPr>
        </p:nvSpPr>
        <p:spPr>
          <a:xfrm>
            <a:off x="311300" y="500925"/>
            <a:ext cx="3704400" cy="204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98" name="Google Shape;98;p36"/>
          <p:cNvSpPr txBox="1">
            <a:spLocks noGrp="1"/>
          </p:cNvSpPr>
          <p:nvPr>
            <p:ph type="subTitle" idx="1"/>
          </p:nvPr>
        </p:nvSpPr>
        <p:spPr>
          <a:xfrm>
            <a:off x="304800" y="2626725"/>
            <a:ext cx="3704400" cy="926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99" name="Google Shape;99;p36"/>
          <p:cNvSpPr txBox="1">
            <a:spLocks noGrp="1"/>
          </p:cNvSpPr>
          <p:nvPr>
            <p:ph type="body" idx="2"/>
          </p:nvPr>
        </p:nvSpPr>
        <p:spPr>
          <a:xfrm>
            <a:off x="4879025" y="500925"/>
            <a:ext cx="3954000" cy="4111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00" name="Google Shape;100;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1"/>
        <p:cNvGrpSpPr/>
        <p:nvPr/>
      </p:nvGrpSpPr>
      <p:grpSpPr>
        <a:xfrm>
          <a:off x="0" y="0"/>
          <a:ext cx="0" cy="0"/>
          <a:chOff x="0" y="0"/>
          <a:chExt cx="0" cy="0"/>
        </a:xfrm>
      </p:grpSpPr>
      <p:sp>
        <p:nvSpPr>
          <p:cNvPr id="102" name="Google Shape;102;p37"/>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37"/>
          <p:cNvSpPr txBox="1">
            <a:spLocks noGrp="1"/>
          </p:cNvSpPr>
          <p:nvPr>
            <p:ph type="body" idx="1"/>
          </p:nvPr>
        </p:nvSpPr>
        <p:spPr>
          <a:xfrm>
            <a:off x="311700" y="4521400"/>
            <a:ext cx="7979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04" name="Google Shape;104;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05"/>
        <p:cNvGrpSpPr/>
        <p:nvPr/>
      </p:nvGrpSpPr>
      <p:grpSpPr>
        <a:xfrm>
          <a:off x="0" y="0"/>
          <a:ext cx="0" cy="0"/>
          <a:chOff x="0" y="0"/>
          <a:chExt cx="0" cy="0"/>
        </a:xfrm>
      </p:grpSpPr>
      <p:sp>
        <p:nvSpPr>
          <p:cNvPr id="106" name="Google Shape;106;p38"/>
          <p:cNvSpPr txBox="1">
            <a:spLocks noGrp="1"/>
          </p:cNvSpPr>
          <p:nvPr>
            <p:ph type="title" hasCustomPrompt="1"/>
          </p:nvPr>
        </p:nvSpPr>
        <p:spPr>
          <a:xfrm>
            <a:off x="311750" y="831175"/>
            <a:ext cx="5334900" cy="1244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107" name="Google Shape;107;p38"/>
          <p:cNvSpPr txBox="1">
            <a:spLocks noGrp="1"/>
          </p:cNvSpPr>
          <p:nvPr>
            <p:ph type="body" idx="1"/>
          </p:nvPr>
        </p:nvSpPr>
        <p:spPr>
          <a:xfrm>
            <a:off x="311700" y="2121425"/>
            <a:ext cx="5334900" cy="942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0"/>
              </a:spcBef>
              <a:spcAft>
                <a:spcPts val="0"/>
              </a:spcAft>
              <a:buClr>
                <a:schemeClr val="accent2"/>
              </a:buClr>
              <a:buSzPts val="1100"/>
              <a:buChar char="○"/>
              <a:defRPr>
                <a:solidFill>
                  <a:schemeClr val="accent2"/>
                </a:solidFill>
              </a:defRPr>
            </a:lvl2pPr>
            <a:lvl3pPr marL="1371600" lvl="2" indent="-298450" algn="l">
              <a:lnSpc>
                <a:spcPct val="115000"/>
              </a:lnSpc>
              <a:spcBef>
                <a:spcPts val="0"/>
              </a:spcBef>
              <a:spcAft>
                <a:spcPts val="0"/>
              </a:spcAft>
              <a:buClr>
                <a:schemeClr val="accent2"/>
              </a:buClr>
              <a:buSzPts val="1100"/>
              <a:buChar char="■"/>
              <a:defRPr>
                <a:solidFill>
                  <a:schemeClr val="accent2"/>
                </a:solidFill>
              </a:defRPr>
            </a:lvl3pPr>
            <a:lvl4pPr marL="1828800" lvl="3" indent="-298450" algn="l">
              <a:lnSpc>
                <a:spcPct val="115000"/>
              </a:lnSpc>
              <a:spcBef>
                <a:spcPts val="0"/>
              </a:spcBef>
              <a:spcAft>
                <a:spcPts val="0"/>
              </a:spcAft>
              <a:buClr>
                <a:schemeClr val="accent2"/>
              </a:buClr>
              <a:buSzPts val="1100"/>
              <a:buChar char="●"/>
              <a:defRPr>
                <a:solidFill>
                  <a:schemeClr val="accent2"/>
                </a:solidFill>
              </a:defRPr>
            </a:lvl4pPr>
            <a:lvl5pPr marL="2286000" lvl="4" indent="-298450" algn="l">
              <a:lnSpc>
                <a:spcPct val="115000"/>
              </a:lnSpc>
              <a:spcBef>
                <a:spcPts val="0"/>
              </a:spcBef>
              <a:spcAft>
                <a:spcPts val="0"/>
              </a:spcAft>
              <a:buClr>
                <a:schemeClr val="accent2"/>
              </a:buClr>
              <a:buSzPts val="1100"/>
              <a:buChar char="○"/>
              <a:defRPr>
                <a:solidFill>
                  <a:schemeClr val="accent2"/>
                </a:solidFill>
              </a:defRPr>
            </a:lvl5pPr>
            <a:lvl6pPr marL="2743200" lvl="5" indent="-298450" algn="l">
              <a:lnSpc>
                <a:spcPct val="115000"/>
              </a:lnSpc>
              <a:spcBef>
                <a:spcPts val="0"/>
              </a:spcBef>
              <a:spcAft>
                <a:spcPts val="0"/>
              </a:spcAft>
              <a:buClr>
                <a:schemeClr val="accent2"/>
              </a:buClr>
              <a:buSzPts val="1100"/>
              <a:buChar char="■"/>
              <a:defRPr>
                <a:solidFill>
                  <a:schemeClr val="accent2"/>
                </a:solidFill>
              </a:defRPr>
            </a:lvl6pPr>
            <a:lvl7pPr marL="3200400" lvl="6" indent="-298450" algn="l">
              <a:lnSpc>
                <a:spcPct val="115000"/>
              </a:lnSpc>
              <a:spcBef>
                <a:spcPts val="0"/>
              </a:spcBef>
              <a:spcAft>
                <a:spcPts val="0"/>
              </a:spcAft>
              <a:buClr>
                <a:schemeClr val="accent2"/>
              </a:buClr>
              <a:buSzPts val="1100"/>
              <a:buChar char="●"/>
              <a:defRPr>
                <a:solidFill>
                  <a:schemeClr val="accent2"/>
                </a:solidFill>
              </a:defRPr>
            </a:lvl7pPr>
            <a:lvl8pPr marL="3657600" lvl="7" indent="-298450" algn="l">
              <a:lnSpc>
                <a:spcPct val="115000"/>
              </a:lnSpc>
              <a:spcBef>
                <a:spcPts val="0"/>
              </a:spcBef>
              <a:spcAft>
                <a:spcPts val="0"/>
              </a:spcAft>
              <a:buClr>
                <a:schemeClr val="accent2"/>
              </a:buClr>
              <a:buSzPts val="1100"/>
              <a:buChar char="○"/>
              <a:defRPr>
                <a:solidFill>
                  <a:schemeClr val="accent2"/>
                </a:solidFill>
              </a:defRPr>
            </a:lvl8pPr>
            <a:lvl9pPr marL="4114800" lvl="8" indent="-298450" algn="l">
              <a:lnSpc>
                <a:spcPct val="115000"/>
              </a:lnSpc>
              <a:spcBef>
                <a:spcPts val="0"/>
              </a:spcBef>
              <a:spcAft>
                <a:spcPts val="0"/>
              </a:spcAft>
              <a:buClr>
                <a:schemeClr val="accent2"/>
              </a:buClr>
              <a:buSzPts val="1100"/>
              <a:buChar char="■"/>
              <a:defRPr>
                <a:solidFill>
                  <a:schemeClr val="accent2"/>
                </a:solidFill>
              </a:defRPr>
            </a:lvl9pPr>
          </a:lstStyle>
          <a:p>
            <a:endParaRPr/>
          </a:p>
        </p:txBody>
      </p:sp>
      <p:sp>
        <p:nvSpPr>
          <p:cNvPr id="108" name="Google Shape;108;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5"/>
        <p:cNvGrpSpPr/>
        <p:nvPr/>
      </p:nvGrpSpPr>
      <p:grpSpPr>
        <a:xfrm>
          <a:off x="0" y="0"/>
          <a:ext cx="0" cy="0"/>
          <a:chOff x="0" y="0"/>
          <a:chExt cx="0" cy="0"/>
        </a:xfrm>
      </p:grpSpPr>
      <p:sp>
        <p:nvSpPr>
          <p:cNvPr id="116" name="Google Shape;116;p40"/>
          <p:cNvSpPr txBox="1">
            <a:spLocks noGrp="1"/>
          </p:cNvSpPr>
          <p:nvPr>
            <p:ph type="dt" idx="10"/>
          </p:nvPr>
        </p:nvSpPr>
        <p:spPr>
          <a:xfrm>
            <a:off x="228600" y="3178175"/>
            <a:ext cx="1066800" cy="18256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40"/>
          <p:cNvSpPr txBox="1">
            <a:spLocks noGrp="1"/>
          </p:cNvSpPr>
          <p:nvPr>
            <p:ph type="ftr" idx="11"/>
          </p:nvPr>
        </p:nvSpPr>
        <p:spPr>
          <a:xfrm>
            <a:off x="1562100" y="3178175"/>
            <a:ext cx="1447800" cy="18256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40"/>
          <p:cNvSpPr txBox="1">
            <a:spLocks noGrp="1"/>
          </p:cNvSpPr>
          <p:nvPr>
            <p:ph type="sldNum" idx="12"/>
          </p:nvPr>
        </p:nvSpPr>
        <p:spPr>
          <a:xfrm>
            <a:off x="3276600" y="3178175"/>
            <a:ext cx="1066800" cy="182563"/>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39"/>
          <p:cNvSpPr txBox="1">
            <a:spLocks noGrp="1"/>
          </p:cNvSpPr>
          <p:nvPr>
            <p:ph type="title"/>
          </p:nvPr>
        </p:nvSpPr>
        <p:spPr>
          <a:xfrm>
            <a:off x="228600" y="137319"/>
            <a:ext cx="4114800" cy="5715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1" name="Google Shape;111;p39"/>
          <p:cNvSpPr txBox="1">
            <a:spLocks noGrp="1"/>
          </p:cNvSpPr>
          <p:nvPr>
            <p:ph type="body" idx="1"/>
          </p:nvPr>
        </p:nvSpPr>
        <p:spPr>
          <a:xfrm>
            <a:off x="228600" y="800100"/>
            <a:ext cx="4114800" cy="226298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2" name="Google Shape;112;p39"/>
          <p:cNvSpPr txBox="1">
            <a:spLocks noGrp="1"/>
          </p:cNvSpPr>
          <p:nvPr>
            <p:ph type="dt" idx="10"/>
          </p:nvPr>
        </p:nvSpPr>
        <p:spPr>
          <a:xfrm>
            <a:off x="228600" y="3178175"/>
            <a:ext cx="1066800" cy="18256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13" name="Google Shape;113;p39"/>
          <p:cNvSpPr txBox="1">
            <a:spLocks noGrp="1"/>
          </p:cNvSpPr>
          <p:nvPr>
            <p:ph type="ftr" idx="11"/>
          </p:nvPr>
        </p:nvSpPr>
        <p:spPr>
          <a:xfrm>
            <a:off x="1562100" y="3178175"/>
            <a:ext cx="1447800" cy="182563"/>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14" name="Google Shape;114;p39"/>
          <p:cNvSpPr txBox="1">
            <a:spLocks noGrp="1"/>
          </p:cNvSpPr>
          <p:nvPr>
            <p:ph type="sldNum" idx="12"/>
          </p:nvPr>
        </p:nvSpPr>
        <p:spPr>
          <a:xfrm>
            <a:off x="3276600" y="3178175"/>
            <a:ext cx="1066800" cy="182563"/>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8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38.xml"/><Relationship Id="rId4" Type="http://schemas.openxmlformats.org/officeDocument/2006/relationships/image" Target="../media/image19.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1"/>
          <p:cNvSpPr txBox="1">
            <a:spLocks noGrp="1"/>
          </p:cNvSpPr>
          <p:nvPr>
            <p:ph type="ctrTitle"/>
          </p:nvPr>
        </p:nvSpPr>
        <p:spPr>
          <a:xfrm>
            <a:off x="623400" y="1611425"/>
            <a:ext cx="8520600" cy="1282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US" sz="2900"/>
              <a:t>Capstone Project Presentation</a:t>
            </a:r>
            <a:endParaRPr sz="2900"/>
          </a:p>
        </p:txBody>
      </p:sp>
      <p:sp>
        <p:nvSpPr>
          <p:cNvPr id="124" name="Google Shape;124;p41"/>
          <p:cNvSpPr txBox="1">
            <a:spLocks noGrp="1"/>
          </p:cNvSpPr>
          <p:nvPr>
            <p:ph type="subTitle" idx="1"/>
          </p:nvPr>
        </p:nvSpPr>
        <p:spPr>
          <a:xfrm>
            <a:off x="340800" y="3312400"/>
            <a:ext cx="3365400" cy="9798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lnSpc>
                <a:spcPct val="95000"/>
              </a:lnSpc>
              <a:spcBef>
                <a:spcPts val="1200"/>
              </a:spcBef>
              <a:spcAft>
                <a:spcPts val="0"/>
              </a:spcAft>
              <a:buSzPts val="688"/>
              <a:buNone/>
            </a:pPr>
            <a:r>
              <a:rPr lang="en-US" sz="2000">
                <a:solidFill>
                  <a:srgbClr val="000000"/>
                </a:solidFill>
                <a:latin typeface="Merriweather Light"/>
                <a:ea typeface="Merriweather Light"/>
                <a:cs typeface="Merriweather Light"/>
                <a:sym typeface="Merriweather Light"/>
              </a:rPr>
              <a:t> </a:t>
            </a:r>
            <a:r>
              <a:rPr lang="en-US" sz="2000" b="1">
                <a:solidFill>
                  <a:srgbClr val="000000"/>
                </a:solidFill>
                <a:latin typeface="Merriweather Light"/>
                <a:ea typeface="Merriweather Light"/>
                <a:cs typeface="Merriweather Light"/>
                <a:sym typeface="Merriweather Light"/>
              </a:rPr>
              <a:t>CSE 400A</a:t>
            </a:r>
            <a:endParaRPr sz="2000" b="1">
              <a:solidFill>
                <a:srgbClr val="000000"/>
              </a:solidFill>
              <a:latin typeface="Merriweather Light"/>
              <a:ea typeface="Merriweather Light"/>
              <a:cs typeface="Merriweather Light"/>
              <a:sym typeface="Merriweather Light"/>
            </a:endParaRPr>
          </a:p>
          <a:p>
            <a:pPr marL="0" lvl="0" indent="0" algn="ctr" rtl="0">
              <a:lnSpc>
                <a:spcPct val="95000"/>
              </a:lnSpc>
              <a:spcBef>
                <a:spcPts val="1200"/>
              </a:spcBef>
              <a:spcAft>
                <a:spcPts val="0"/>
              </a:spcAft>
              <a:buSzPts val="688"/>
              <a:buNone/>
            </a:pPr>
            <a:r>
              <a:rPr lang="en-US" sz="2000" b="1">
                <a:solidFill>
                  <a:srgbClr val="000000"/>
                </a:solidFill>
                <a:latin typeface="Merriweather Light"/>
                <a:ea typeface="Merriweather Light"/>
                <a:cs typeface="Merriweather Light"/>
                <a:sym typeface="Merriweather Light"/>
              </a:rPr>
              <a:t>Summer 2025 </a:t>
            </a:r>
            <a:endParaRPr sz="2000" b="1">
              <a:solidFill>
                <a:srgbClr val="000000"/>
              </a:solidFill>
              <a:latin typeface="Merriweather Light"/>
              <a:ea typeface="Merriweather Light"/>
              <a:cs typeface="Merriweather Light"/>
              <a:sym typeface="Merriweather Light"/>
            </a:endParaRPr>
          </a:p>
          <a:p>
            <a:pPr marL="0" lvl="0" indent="0" algn="l" rtl="0">
              <a:lnSpc>
                <a:spcPct val="80000"/>
              </a:lnSpc>
              <a:spcBef>
                <a:spcPts val="0"/>
              </a:spcBef>
              <a:spcAft>
                <a:spcPts val="0"/>
              </a:spcAft>
              <a:buSzPts val="688"/>
              <a:buNone/>
            </a:pPr>
            <a:endParaRPr sz="1000"/>
          </a:p>
        </p:txBody>
      </p:sp>
      <p:pic>
        <p:nvPicPr>
          <p:cNvPr id="125" name="Google Shape;125;p41"/>
          <p:cNvPicPr preferRelativeResize="0"/>
          <p:nvPr/>
        </p:nvPicPr>
        <p:blipFill rotWithShape="1">
          <a:blip r:embed="rId3">
            <a:alphaModFix/>
          </a:blip>
          <a:srcRect/>
          <a:stretch/>
        </p:blipFill>
        <p:spPr>
          <a:xfrm>
            <a:off x="3336550" y="169575"/>
            <a:ext cx="1976874" cy="1282500"/>
          </a:xfrm>
          <a:prstGeom prst="rect">
            <a:avLst/>
          </a:prstGeom>
          <a:noFill/>
          <a:ln>
            <a:noFill/>
          </a:ln>
        </p:spPr>
      </p:pic>
      <p:sp>
        <p:nvSpPr>
          <p:cNvPr id="126" name="Google Shape;126;p41"/>
          <p:cNvSpPr txBox="1">
            <a:spLocks noGrp="1"/>
          </p:cNvSpPr>
          <p:nvPr>
            <p:ph type="subTitle" idx="1"/>
          </p:nvPr>
        </p:nvSpPr>
        <p:spPr>
          <a:xfrm>
            <a:off x="5089300" y="2946175"/>
            <a:ext cx="3693600" cy="18480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700" b="1">
                <a:solidFill>
                  <a:schemeClr val="accent1"/>
                </a:solidFill>
                <a:latin typeface="Merriweather"/>
                <a:ea typeface="Merriweather"/>
                <a:cs typeface="Merriweather"/>
                <a:sym typeface="Merriweather"/>
              </a:rPr>
              <a:t>Supervised By</a:t>
            </a:r>
            <a:endParaRPr sz="1700" b="1">
              <a:solidFill>
                <a:schemeClr val="accent1"/>
              </a:solidFill>
              <a:latin typeface="Merriweather"/>
              <a:ea typeface="Merriweather"/>
              <a:cs typeface="Merriweather"/>
              <a:sym typeface="Merriweather"/>
            </a:endParaRPr>
          </a:p>
          <a:p>
            <a:pPr marL="0" lvl="0" indent="0" algn="ctr" rtl="0">
              <a:spcBef>
                <a:spcPts val="0"/>
              </a:spcBef>
              <a:spcAft>
                <a:spcPts val="0"/>
              </a:spcAft>
              <a:buNone/>
            </a:pPr>
            <a:endParaRPr sz="1700" b="1">
              <a:solidFill>
                <a:schemeClr val="accent1"/>
              </a:solidFill>
              <a:latin typeface="Merriweather"/>
              <a:ea typeface="Merriweather"/>
              <a:cs typeface="Merriweather"/>
              <a:sym typeface="Merriweather"/>
            </a:endParaRPr>
          </a:p>
          <a:p>
            <a:pPr marL="0" lvl="0" indent="0" algn="ctr" rtl="0">
              <a:spcBef>
                <a:spcPts val="0"/>
              </a:spcBef>
              <a:spcAft>
                <a:spcPts val="0"/>
              </a:spcAft>
              <a:buNone/>
            </a:pPr>
            <a:r>
              <a:rPr lang="en-US" sz="1500">
                <a:solidFill>
                  <a:schemeClr val="lt1"/>
                </a:solidFill>
                <a:highlight>
                  <a:schemeClr val="dk1"/>
                </a:highlight>
                <a:latin typeface="Merriweather"/>
                <a:ea typeface="Merriweather"/>
                <a:cs typeface="Merriweather"/>
                <a:sym typeface="Merriweather"/>
              </a:rPr>
              <a:t>Rashedul Amin Tuhin</a:t>
            </a:r>
            <a:endParaRPr sz="1500">
              <a:solidFill>
                <a:schemeClr val="lt1"/>
              </a:solidFill>
              <a:highlight>
                <a:schemeClr val="dk1"/>
              </a:highlight>
              <a:latin typeface="Merriweather"/>
              <a:ea typeface="Merriweather"/>
              <a:cs typeface="Merriweather"/>
              <a:sym typeface="Merriweather"/>
            </a:endParaRPr>
          </a:p>
          <a:p>
            <a:pPr marL="0" lvl="0" indent="0" algn="ctr" rtl="0">
              <a:spcBef>
                <a:spcPts val="0"/>
              </a:spcBef>
              <a:spcAft>
                <a:spcPts val="0"/>
              </a:spcAft>
              <a:buNone/>
            </a:pPr>
            <a:br>
              <a:rPr lang="en-US" sz="1500">
                <a:solidFill>
                  <a:schemeClr val="accent1"/>
                </a:solidFill>
                <a:latin typeface="Merriweather"/>
                <a:ea typeface="Merriweather"/>
                <a:cs typeface="Merriweather"/>
                <a:sym typeface="Merriweather"/>
              </a:rPr>
            </a:br>
            <a:r>
              <a:rPr lang="en-US" sz="1500" b="1">
                <a:solidFill>
                  <a:schemeClr val="accent1"/>
                </a:solidFill>
                <a:latin typeface="Merriweather"/>
                <a:ea typeface="Merriweather"/>
                <a:cs typeface="Merriweather"/>
                <a:sym typeface="Merriweather"/>
              </a:rPr>
              <a:t>Senior Lecturer</a:t>
            </a:r>
            <a:endParaRPr sz="1500" b="1">
              <a:solidFill>
                <a:schemeClr val="accent1"/>
              </a:solidFill>
              <a:latin typeface="Merriweather"/>
              <a:ea typeface="Merriweather"/>
              <a:cs typeface="Merriweather"/>
              <a:sym typeface="Merriweather"/>
            </a:endParaRPr>
          </a:p>
          <a:p>
            <a:pPr marL="0" lvl="0" indent="0" algn="ctr" rtl="0">
              <a:spcBef>
                <a:spcPts val="0"/>
              </a:spcBef>
              <a:spcAft>
                <a:spcPts val="0"/>
              </a:spcAft>
              <a:buNone/>
            </a:pPr>
            <a:r>
              <a:rPr lang="en-US" sz="1500">
                <a:solidFill>
                  <a:schemeClr val="accent1"/>
                </a:solidFill>
                <a:latin typeface="Merriweather"/>
                <a:ea typeface="Merriweather"/>
                <a:cs typeface="Merriweather"/>
                <a:sym typeface="Merriweather"/>
              </a:rPr>
              <a:t>Department of Computer Science and Engineering</a:t>
            </a:r>
            <a:endParaRPr sz="1500">
              <a:solidFill>
                <a:srgbClr val="000000"/>
              </a:solidFill>
              <a:latin typeface="Merriweather Light"/>
              <a:ea typeface="Merriweather Light"/>
              <a:cs typeface="Merriweather Light"/>
              <a:sym typeface="Merriweather Light"/>
            </a:endParaRPr>
          </a:p>
          <a:p>
            <a:pPr marL="0" lvl="0" indent="0" algn="l" rtl="0">
              <a:lnSpc>
                <a:spcPct val="80000"/>
              </a:lnSpc>
              <a:spcBef>
                <a:spcPts val="0"/>
              </a:spcBef>
              <a:spcAft>
                <a:spcPts val="0"/>
              </a:spcAft>
              <a:buSzPts val="688"/>
              <a:buNone/>
            </a:pPr>
            <a:endParaRPr sz="1000"/>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3" descr="technology-automation-of-agriculture-robot-arm-harvests-vegetables-in-greenhouse-photo.jpg"/>
          <p:cNvPicPr>
            <a:picLocks noChangeAspect="1"/>
          </p:cNvPicPr>
          <p:nvPr/>
        </p:nvPicPr>
        <p:blipFill>
          <a:blip r:embed="rId2"/>
          <a:stretch>
            <a:fillRect/>
          </a:stretch>
        </p:blipFill>
        <p:spPr>
          <a:xfrm>
            <a:off x="0" y="0"/>
            <a:ext cx="9144000" cy="5143500"/>
          </a:xfrm>
          <a:prstGeom prst="rect">
            <a:avLst/>
          </a:prstGeom>
        </p:spPr>
      </p:pic>
      <p:sp>
        <p:nvSpPr>
          <p:cNvPr id="6" name="TextBox 5"/>
          <p:cNvSpPr txBox="1"/>
          <p:nvPr/>
        </p:nvSpPr>
        <p:spPr>
          <a:xfrm>
            <a:off x="1731981" y="2226833"/>
            <a:ext cx="5680038"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000" b="1" dirty="0"/>
              <a:t>Real-Time Automated Vegetable Sorting: AI Agent System with Robotic Arm</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43"/>
          <p:cNvSpPr txBox="1">
            <a:spLocks noGrp="1"/>
          </p:cNvSpPr>
          <p:nvPr>
            <p:ph type="title"/>
          </p:nvPr>
        </p:nvSpPr>
        <p:spPr>
          <a:xfrm>
            <a:off x="623400" y="413825"/>
            <a:ext cx="8520600" cy="623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US"/>
              <a:t>Let’s Introduce ourselves</a:t>
            </a:r>
            <a:endParaRPr/>
          </a:p>
        </p:txBody>
      </p:sp>
      <p:graphicFrame>
        <p:nvGraphicFramePr>
          <p:cNvPr id="139" name="Google Shape;139;p43"/>
          <p:cNvGraphicFramePr/>
          <p:nvPr/>
        </p:nvGraphicFramePr>
        <p:xfrm>
          <a:off x="1001865" y="1497640"/>
          <a:ext cx="6900100" cy="3145245"/>
        </p:xfrm>
        <a:graphic>
          <a:graphicData uri="http://schemas.openxmlformats.org/drawingml/2006/table">
            <a:tbl>
              <a:tblPr>
                <a:noFill/>
                <a:tableStyleId>{A2CC0FA7-014A-44FD-AD4A-AEC336675D45}</a:tableStyleId>
              </a:tblPr>
              <a:tblGrid>
                <a:gridCol w="3714200">
                  <a:extLst>
                    <a:ext uri="{9D8B030D-6E8A-4147-A177-3AD203B41FA5}">
                      <a16:colId xmlns:a16="http://schemas.microsoft.com/office/drawing/2014/main" val="20000"/>
                    </a:ext>
                  </a:extLst>
                </a:gridCol>
                <a:gridCol w="3185900">
                  <a:extLst>
                    <a:ext uri="{9D8B030D-6E8A-4147-A177-3AD203B41FA5}">
                      <a16:colId xmlns:a16="http://schemas.microsoft.com/office/drawing/2014/main" val="20001"/>
                    </a:ext>
                  </a:extLst>
                </a:gridCol>
              </a:tblGrid>
              <a:tr h="516050">
                <a:tc>
                  <a:txBody>
                    <a:bodyPr/>
                    <a:lstStyle/>
                    <a:p>
                      <a:pPr marL="0" marR="0" lvl="0" indent="0" algn="ctr" rtl="0">
                        <a:lnSpc>
                          <a:spcPct val="115000"/>
                        </a:lnSpc>
                        <a:spcBef>
                          <a:spcPts val="0"/>
                        </a:spcBef>
                        <a:spcAft>
                          <a:spcPts val="0"/>
                        </a:spcAft>
                        <a:buClr>
                          <a:srgbClr val="000000"/>
                        </a:buClr>
                        <a:buSzPts val="2000"/>
                        <a:buFont typeface="Arial"/>
                        <a:buNone/>
                      </a:pPr>
                      <a:r>
                        <a:rPr lang="en-US" sz="2000" b="1" u="none" strike="noStrike" cap="none"/>
                        <a:t>Name</a:t>
                      </a:r>
                      <a:endParaRPr sz="2000" b="1" u="none" strike="noStrike" cap="none">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2000"/>
                        <a:buFont typeface="Arial"/>
                        <a:buNone/>
                      </a:pPr>
                      <a:r>
                        <a:rPr lang="en-US" sz="2000" b="1" u="none" strike="noStrike" cap="none"/>
                        <a:t>ID</a:t>
                      </a:r>
                      <a:endParaRPr sz="2000" b="1" u="none" strike="noStrike" cap="none">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35725">
                <a:tc>
                  <a:txBody>
                    <a:bodyPr/>
                    <a:lstStyle/>
                    <a:p>
                      <a:pPr marL="0" marR="0" lvl="0" indent="0" algn="ctr" rtl="0">
                        <a:lnSpc>
                          <a:spcPct val="115000"/>
                        </a:lnSpc>
                        <a:spcBef>
                          <a:spcPts val="0"/>
                        </a:spcBef>
                        <a:spcAft>
                          <a:spcPts val="0"/>
                        </a:spcAft>
                        <a:buClr>
                          <a:srgbClr val="000000"/>
                        </a:buClr>
                        <a:buSzPts val="2000"/>
                        <a:buFont typeface="Arial"/>
                        <a:buNone/>
                      </a:pPr>
                      <a:r>
                        <a:rPr lang="en-US" sz="1800" b="1" u="none" strike="noStrike" cap="none">
                          <a:solidFill>
                            <a:schemeClr val="lt1"/>
                          </a:solidFill>
                        </a:rPr>
                        <a:t>Fathhur Rahaman Sams</a:t>
                      </a:r>
                      <a:endParaRPr sz="1800" b="1" u="none" strike="noStrike" cap="none">
                        <a:solidFill>
                          <a:schemeClr val="lt1"/>
                        </a:solidFill>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1"/>
                    </a:solidFill>
                  </a:tcPr>
                </a:tc>
                <a:tc>
                  <a:txBody>
                    <a:bodyPr/>
                    <a:lstStyle/>
                    <a:p>
                      <a:pPr marL="0" marR="0" lvl="0" indent="0" algn="ctr" rtl="0">
                        <a:lnSpc>
                          <a:spcPct val="115000"/>
                        </a:lnSpc>
                        <a:spcBef>
                          <a:spcPts val="0"/>
                        </a:spcBef>
                        <a:spcAft>
                          <a:spcPts val="0"/>
                        </a:spcAft>
                        <a:buClr>
                          <a:srgbClr val="000000"/>
                        </a:buClr>
                        <a:buSzPts val="2000"/>
                        <a:buFont typeface="Arial"/>
                        <a:buNone/>
                      </a:pPr>
                      <a:r>
                        <a:rPr lang="en-US" sz="1800" b="1" u="none" strike="noStrike" cap="none">
                          <a:solidFill>
                            <a:schemeClr val="lt1"/>
                          </a:solidFill>
                        </a:rPr>
                        <a:t>2022-2-60-041</a:t>
                      </a:r>
                      <a:endParaRPr sz="1800" b="1" u="none" strike="noStrike" cap="none">
                        <a:solidFill>
                          <a:schemeClr val="lt1"/>
                        </a:solidFill>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632450">
                <a:tc>
                  <a:txBody>
                    <a:bodyPr/>
                    <a:lstStyle/>
                    <a:p>
                      <a:pPr marL="0" marR="0" lvl="0" indent="0" algn="ctr" rtl="0">
                        <a:lnSpc>
                          <a:spcPct val="115000"/>
                        </a:lnSpc>
                        <a:spcBef>
                          <a:spcPts val="0"/>
                        </a:spcBef>
                        <a:spcAft>
                          <a:spcPts val="0"/>
                        </a:spcAft>
                        <a:buClr>
                          <a:srgbClr val="000000"/>
                        </a:buClr>
                        <a:buSzPts val="2000"/>
                        <a:buFont typeface="Arial"/>
                        <a:buNone/>
                      </a:pPr>
                      <a:r>
                        <a:rPr lang="en-US" sz="1800" b="1" u="none" strike="noStrike" cap="none">
                          <a:solidFill>
                            <a:schemeClr val="lt1"/>
                          </a:solidFill>
                        </a:rPr>
                        <a:t>Sanjana Kazi Supti</a:t>
                      </a:r>
                      <a:endParaRPr sz="1800" b="1" u="none" strike="noStrike" cap="none">
                        <a:solidFill>
                          <a:schemeClr val="lt1"/>
                        </a:solidFill>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1"/>
                    </a:solidFill>
                  </a:tcPr>
                </a:tc>
                <a:tc>
                  <a:txBody>
                    <a:bodyPr/>
                    <a:lstStyle/>
                    <a:p>
                      <a:pPr marL="0" marR="0" lvl="0" indent="0" algn="ctr" rtl="0">
                        <a:lnSpc>
                          <a:spcPct val="115000"/>
                        </a:lnSpc>
                        <a:spcBef>
                          <a:spcPts val="0"/>
                        </a:spcBef>
                        <a:spcAft>
                          <a:spcPts val="0"/>
                        </a:spcAft>
                        <a:buClr>
                          <a:srgbClr val="000000"/>
                        </a:buClr>
                        <a:buSzPts val="2000"/>
                        <a:buFont typeface="Arial"/>
                        <a:buNone/>
                      </a:pPr>
                      <a:r>
                        <a:rPr lang="en-US" sz="1800" b="1" u="none" strike="noStrike" cap="none">
                          <a:solidFill>
                            <a:schemeClr val="lt1"/>
                          </a:solidFill>
                        </a:rPr>
                        <a:t>2022-2-60-036</a:t>
                      </a:r>
                      <a:endParaRPr sz="1800" b="1" u="none" strike="noStrike" cap="none">
                        <a:solidFill>
                          <a:schemeClr val="lt1"/>
                        </a:solidFill>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711250">
                <a:tc>
                  <a:txBody>
                    <a:bodyPr/>
                    <a:lstStyle/>
                    <a:p>
                      <a:pPr marL="0" marR="0" lvl="0" indent="0" algn="ctr" rtl="0">
                        <a:lnSpc>
                          <a:spcPct val="115000"/>
                        </a:lnSpc>
                        <a:spcBef>
                          <a:spcPts val="0"/>
                        </a:spcBef>
                        <a:spcAft>
                          <a:spcPts val="0"/>
                        </a:spcAft>
                        <a:buClr>
                          <a:srgbClr val="000000"/>
                        </a:buClr>
                        <a:buSzPts val="2000"/>
                        <a:buFont typeface="Arial"/>
                        <a:buNone/>
                      </a:pPr>
                      <a:r>
                        <a:rPr lang="en-US" sz="1800" b="1" u="none" strike="noStrike" cap="none">
                          <a:solidFill>
                            <a:schemeClr val="lt1"/>
                          </a:solidFill>
                        </a:rPr>
                        <a:t>Md. Junaeid Ali</a:t>
                      </a:r>
                      <a:endParaRPr sz="1800" b="1" u="none" strike="noStrike" cap="none">
                        <a:solidFill>
                          <a:schemeClr val="lt1"/>
                        </a:solidFill>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1"/>
                    </a:solidFill>
                  </a:tcPr>
                </a:tc>
                <a:tc>
                  <a:txBody>
                    <a:bodyPr/>
                    <a:lstStyle/>
                    <a:p>
                      <a:pPr marL="0" marR="0" lvl="0" indent="0" algn="ctr" rtl="0">
                        <a:lnSpc>
                          <a:spcPct val="115000"/>
                        </a:lnSpc>
                        <a:spcBef>
                          <a:spcPts val="0"/>
                        </a:spcBef>
                        <a:spcAft>
                          <a:spcPts val="0"/>
                        </a:spcAft>
                        <a:buClr>
                          <a:srgbClr val="000000"/>
                        </a:buClr>
                        <a:buSzPts val="2000"/>
                        <a:buFont typeface="Arial"/>
                        <a:buNone/>
                      </a:pPr>
                      <a:r>
                        <a:rPr lang="en-US" sz="1800" b="1" u="none" strike="noStrike" cap="none">
                          <a:solidFill>
                            <a:schemeClr val="lt1"/>
                          </a:solidFill>
                        </a:rPr>
                        <a:t>2022-2-60-127</a:t>
                      </a:r>
                      <a:endParaRPr sz="1800" b="1" u="none" strike="noStrike" cap="none">
                        <a:solidFill>
                          <a:schemeClr val="lt1"/>
                        </a:solidFill>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632450">
                <a:tc>
                  <a:txBody>
                    <a:bodyPr/>
                    <a:lstStyle/>
                    <a:p>
                      <a:pPr marL="0" marR="0" lvl="0" indent="0" algn="ctr" rtl="0">
                        <a:lnSpc>
                          <a:spcPct val="115000"/>
                        </a:lnSpc>
                        <a:spcBef>
                          <a:spcPts val="0"/>
                        </a:spcBef>
                        <a:spcAft>
                          <a:spcPts val="0"/>
                        </a:spcAft>
                        <a:buClr>
                          <a:srgbClr val="000000"/>
                        </a:buClr>
                        <a:buSzPts val="2000"/>
                        <a:buFont typeface="Arial"/>
                        <a:buNone/>
                      </a:pPr>
                      <a:r>
                        <a:rPr lang="en-US" sz="1800" b="1" u="none" strike="noStrike" cap="none">
                          <a:solidFill>
                            <a:schemeClr val="lt1"/>
                          </a:solidFill>
                        </a:rPr>
                        <a:t>Mahfuj Alam Imon</a:t>
                      </a:r>
                      <a:endParaRPr sz="1800" b="1" u="none" strike="noStrike" cap="none">
                        <a:solidFill>
                          <a:schemeClr val="lt1"/>
                        </a:solidFill>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1"/>
                    </a:solidFill>
                  </a:tcPr>
                </a:tc>
                <a:tc>
                  <a:txBody>
                    <a:bodyPr/>
                    <a:lstStyle/>
                    <a:p>
                      <a:pPr marL="0" marR="0" lvl="0" indent="0" algn="ctr" rtl="0">
                        <a:lnSpc>
                          <a:spcPct val="115000"/>
                        </a:lnSpc>
                        <a:spcBef>
                          <a:spcPts val="0"/>
                        </a:spcBef>
                        <a:spcAft>
                          <a:spcPts val="0"/>
                        </a:spcAft>
                        <a:buClr>
                          <a:srgbClr val="000000"/>
                        </a:buClr>
                        <a:buSzPts val="2000"/>
                        <a:buFont typeface="Arial"/>
                        <a:buNone/>
                      </a:pPr>
                      <a:r>
                        <a:rPr lang="en-US" sz="1800" b="1" u="none" strike="noStrike" cap="none">
                          <a:solidFill>
                            <a:schemeClr val="lt1"/>
                          </a:solidFill>
                        </a:rPr>
                        <a:t>2022-2-60-131</a:t>
                      </a:r>
                      <a:endParaRPr sz="1800" b="1" u="none" strike="noStrike" cap="none">
                        <a:solidFill>
                          <a:schemeClr val="lt1"/>
                        </a:solidFill>
                        <a:latin typeface="Merriweather"/>
                        <a:ea typeface="Merriweather"/>
                        <a:cs typeface="Merriweather"/>
                        <a:sym typeface="Merriweather"/>
                      </a:endParaRPr>
                    </a:p>
                  </a:txBody>
                  <a:tcPr marL="63500" marR="63500"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1"/>
                    </a:solidFill>
                  </a:tcPr>
                </a:tc>
                <a:extLst>
                  <a:ext uri="{0D108BD9-81ED-4DB2-BD59-A6C34878D82A}">
                    <a16:rowId xmlns:a16="http://schemas.microsoft.com/office/drawing/2014/main" val="10004"/>
                  </a:ext>
                </a:extLst>
              </a:tr>
            </a:tbl>
          </a:graphicData>
        </a:graphic>
      </p:graphicFrame>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grpSp>
        <p:nvGrpSpPr>
          <p:cNvPr id="144" name="Google Shape;144;p44"/>
          <p:cNvGrpSpPr/>
          <p:nvPr/>
        </p:nvGrpSpPr>
        <p:grpSpPr>
          <a:xfrm>
            <a:off x="380801" y="1597790"/>
            <a:ext cx="8509617" cy="3248603"/>
            <a:chOff x="5491" y="7902"/>
            <a:chExt cx="8509617" cy="3248603"/>
          </a:xfrm>
        </p:grpSpPr>
        <p:sp>
          <p:nvSpPr>
            <p:cNvPr id="145" name="Google Shape;145;p44"/>
            <p:cNvSpPr/>
            <p:nvPr/>
          </p:nvSpPr>
          <p:spPr>
            <a:xfrm>
              <a:off x="1441126" y="393412"/>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4"/>
            <p:cNvSpPr txBox="1"/>
            <p:nvPr/>
          </p:nvSpPr>
          <p:spPr>
            <a:xfrm>
              <a:off x="1582866" y="437479"/>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47" name="Google Shape;147;p44"/>
            <p:cNvSpPr/>
            <p:nvPr/>
          </p:nvSpPr>
          <p:spPr>
            <a:xfrm>
              <a:off x="5491" y="7902"/>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44"/>
            <p:cNvSpPr txBox="1"/>
            <p:nvPr/>
          </p:nvSpPr>
          <p:spPr>
            <a:xfrm>
              <a:off x="5491" y="7902"/>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a:solidFill>
                    <a:schemeClr val="lt1"/>
                  </a:solidFill>
                </a:rPr>
                <a:t>1. </a:t>
              </a:r>
              <a:r>
                <a:rPr lang="en-US" sz="1300" b="1" i="0" u="none" strike="noStrike" cap="none">
                  <a:solidFill>
                    <a:schemeClr val="lt1"/>
                  </a:solidFill>
                  <a:latin typeface="Arial"/>
                  <a:ea typeface="Arial"/>
                  <a:cs typeface="Arial"/>
                  <a:sym typeface="Arial"/>
                </a:rPr>
                <a:t>Introduction</a:t>
              </a:r>
              <a:endParaRPr sz="1300" b="0" i="0" u="none" strike="noStrike" cap="none">
                <a:solidFill>
                  <a:schemeClr val="lt1"/>
                </a:solidFill>
                <a:latin typeface="Arial"/>
                <a:ea typeface="Arial"/>
                <a:cs typeface="Arial"/>
                <a:sym typeface="Arial"/>
              </a:endParaRPr>
            </a:p>
          </p:txBody>
        </p:sp>
        <p:sp>
          <p:nvSpPr>
            <p:cNvPr id="149" name="Google Shape;149;p44"/>
            <p:cNvSpPr/>
            <p:nvPr/>
          </p:nvSpPr>
          <p:spPr>
            <a:xfrm>
              <a:off x="3209172" y="393412"/>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4"/>
            <p:cNvSpPr txBox="1"/>
            <p:nvPr/>
          </p:nvSpPr>
          <p:spPr>
            <a:xfrm>
              <a:off x="3350912" y="437479"/>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51" name="Google Shape;151;p44"/>
            <p:cNvSpPr/>
            <p:nvPr/>
          </p:nvSpPr>
          <p:spPr>
            <a:xfrm>
              <a:off x="1773537" y="7902"/>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4"/>
            <p:cNvSpPr txBox="1"/>
            <p:nvPr/>
          </p:nvSpPr>
          <p:spPr>
            <a:xfrm>
              <a:off x="1773537" y="7902"/>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a:solidFill>
                    <a:schemeClr val="lt1"/>
                  </a:solidFill>
                </a:rPr>
                <a:t>1.1 </a:t>
              </a:r>
              <a:r>
                <a:rPr lang="en-US" sz="1300" b="1" i="0" u="none" strike="noStrike" cap="none">
                  <a:solidFill>
                    <a:schemeClr val="lt1"/>
                  </a:solidFill>
                  <a:latin typeface="Arial"/>
                  <a:ea typeface="Arial"/>
                  <a:cs typeface="Arial"/>
                  <a:sym typeface="Arial"/>
                </a:rPr>
                <a:t>Objective</a:t>
              </a:r>
              <a:endParaRPr sz="1300" b="0" i="0" u="none" strike="noStrike" cap="none">
                <a:solidFill>
                  <a:schemeClr val="lt1"/>
                </a:solidFill>
                <a:latin typeface="Arial"/>
                <a:ea typeface="Arial"/>
                <a:cs typeface="Arial"/>
                <a:sym typeface="Arial"/>
              </a:endParaRPr>
            </a:p>
          </p:txBody>
        </p:sp>
        <p:sp>
          <p:nvSpPr>
            <p:cNvPr id="153" name="Google Shape;153;p44"/>
            <p:cNvSpPr/>
            <p:nvPr/>
          </p:nvSpPr>
          <p:spPr>
            <a:xfrm>
              <a:off x="4977217" y="393412"/>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44"/>
            <p:cNvSpPr txBox="1"/>
            <p:nvPr/>
          </p:nvSpPr>
          <p:spPr>
            <a:xfrm>
              <a:off x="5118957" y="437479"/>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55" name="Google Shape;155;p44"/>
            <p:cNvSpPr/>
            <p:nvPr/>
          </p:nvSpPr>
          <p:spPr>
            <a:xfrm>
              <a:off x="3541582" y="7902"/>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4"/>
            <p:cNvSpPr txBox="1"/>
            <p:nvPr/>
          </p:nvSpPr>
          <p:spPr>
            <a:xfrm>
              <a:off x="3541582" y="7902"/>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a:solidFill>
                    <a:schemeClr val="lt1"/>
                  </a:solidFill>
                </a:rPr>
                <a:t>2. </a:t>
              </a:r>
              <a:r>
                <a:rPr lang="en-US" sz="1300" b="1" i="0" u="none" strike="noStrike" cap="none">
                  <a:solidFill>
                    <a:schemeClr val="lt1"/>
                  </a:solidFill>
                  <a:latin typeface="Arial"/>
                  <a:ea typeface="Arial"/>
                  <a:cs typeface="Arial"/>
                  <a:sym typeface="Arial"/>
                </a:rPr>
                <a:t>Related Works</a:t>
              </a:r>
              <a:endParaRPr sz="1300" b="0" i="0" u="none" strike="noStrike" cap="none">
                <a:solidFill>
                  <a:schemeClr val="lt1"/>
                </a:solidFill>
                <a:latin typeface="Arial"/>
                <a:ea typeface="Arial"/>
                <a:cs typeface="Arial"/>
                <a:sym typeface="Arial"/>
              </a:endParaRPr>
            </a:p>
          </p:txBody>
        </p:sp>
        <p:sp>
          <p:nvSpPr>
            <p:cNvPr id="157" name="Google Shape;157;p44"/>
            <p:cNvSpPr/>
            <p:nvPr/>
          </p:nvSpPr>
          <p:spPr>
            <a:xfrm>
              <a:off x="6745262" y="393412"/>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4"/>
            <p:cNvSpPr txBox="1"/>
            <p:nvPr/>
          </p:nvSpPr>
          <p:spPr>
            <a:xfrm>
              <a:off x="6887002" y="437479"/>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59" name="Google Shape;159;p44"/>
            <p:cNvSpPr/>
            <p:nvPr/>
          </p:nvSpPr>
          <p:spPr>
            <a:xfrm>
              <a:off x="5309627" y="7902"/>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4"/>
            <p:cNvSpPr txBox="1"/>
            <p:nvPr/>
          </p:nvSpPr>
          <p:spPr>
            <a:xfrm>
              <a:off x="5309627" y="7902"/>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a:solidFill>
                    <a:schemeClr val="lt1"/>
                  </a:solidFill>
                </a:rPr>
                <a:t>3. </a:t>
              </a:r>
              <a:r>
                <a:rPr lang="en-US" sz="1300" b="1" i="0" u="none" strike="noStrike" cap="none">
                  <a:solidFill>
                    <a:schemeClr val="lt1"/>
                  </a:solidFill>
                  <a:latin typeface="Arial"/>
                  <a:ea typeface="Arial"/>
                  <a:cs typeface="Arial"/>
                  <a:sym typeface="Arial"/>
                </a:rPr>
                <a:t>Planned Methodology</a:t>
              </a:r>
              <a:endParaRPr sz="1300" b="0" i="0" u="none" strike="noStrike" cap="none">
                <a:solidFill>
                  <a:schemeClr val="lt1"/>
                </a:solidFill>
                <a:latin typeface="Arial"/>
                <a:ea typeface="Arial"/>
                <a:cs typeface="Arial"/>
                <a:sym typeface="Arial"/>
              </a:endParaRPr>
            </a:p>
          </p:txBody>
        </p:sp>
        <p:sp>
          <p:nvSpPr>
            <p:cNvPr id="161" name="Google Shape;161;p44"/>
            <p:cNvSpPr/>
            <p:nvPr/>
          </p:nvSpPr>
          <p:spPr>
            <a:xfrm>
              <a:off x="724209" y="868563"/>
              <a:ext cx="7072181" cy="300010"/>
            </a:xfrm>
            <a:custGeom>
              <a:avLst/>
              <a:gdLst/>
              <a:ahLst/>
              <a:cxnLst/>
              <a:rect l="l" t="t" r="r" b="b"/>
              <a:pathLst>
                <a:path w="120000" h="120000" extrusionOk="0">
                  <a:moveTo>
                    <a:pt x="120000" y="0"/>
                  </a:moveTo>
                  <a:lnTo>
                    <a:pt x="120000" y="66840"/>
                  </a:lnTo>
                  <a:lnTo>
                    <a:pt x="0" y="66840"/>
                  </a:lnTo>
                  <a:lnTo>
                    <a:pt x="0" y="12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4"/>
            <p:cNvSpPr txBox="1"/>
            <p:nvPr/>
          </p:nvSpPr>
          <p:spPr>
            <a:xfrm>
              <a:off x="4083302" y="1016915"/>
              <a:ext cx="353995"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63" name="Google Shape;163;p44"/>
            <p:cNvSpPr/>
            <p:nvPr/>
          </p:nvSpPr>
          <p:spPr>
            <a:xfrm>
              <a:off x="7077673" y="7902"/>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4"/>
            <p:cNvSpPr txBox="1"/>
            <p:nvPr/>
          </p:nvSpPr>
          <p:spPr>
            <a:xfrm>
              <a:off x="7077673" y="7902"/>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a:solidFill>
                    <a:schemeClr val="lt1"/>
                  </a:solidFill>
                </a:rPr>
                <a:t>3.1 </a:t>
              </a:r>
              <a:r>
                <a:rPr lang="en-US" sz="1300" b="1" i="0" u="none" strike="noStrike" cap="none">
                  <a:solidFill>
                    <a:schemeClr val="lt1"/>
                  </a:solidFill>
                  <a:latin typeface="Arial"/>
                  <a:ea typeface="Arial"/>
                  <a:cs typeface="Arial"/>
                  <a:sym typeface="Arial"/>
                </a:rPr>
                <a:t>Dataset Collection Setup</a:t>
              </a:r>
              <a:endParaRPr sz="1300" b="0" i="0" u="none" strike="noStrike" cap="none">
                <a:solidFill>
                  <a:schemeClr val="lt1"/>
                </a:solidFill>
                <a:latin typeface="Arial"/>
                <a:ea typeface="Arial"/>
                <a:cs typeface="Arial"/>
                <a:sym typeface="Arial"/>
              </a:endParaRPr>
            </a:p>
          </p:txBody>
        </p:sp>
        <p:sp>
          <p:nvSpPr>
            <p:cNvPr id="165" name="Google Shape;165;p44"/>
            <p:cNvSpPr/>
            <p:nvPr/>
          </p:nvSpPr>
          <p:spPr>
            <a:xfrm>
              <a:off x="1441126" y="1586483"/>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4"/>
            <p:cNvSpPr txBox="1"/>
            <p:nvPr/>
          </p:nvSpPr>
          <p:spPr>
            <a:xfrm>
              <a:off x="1582866" y="1630550"/>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67" name="Google Shape;167;p44"/>
            <p:cNvSpPr/>
            <p:nvPr/>
          </p:nvSpPr>
          <p:spPr>
            <a:xfrm>
              <a:off x="5491" y="1200973"/>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4"/>
            <p:cNvSpPr txBox="1"/>
            <p:nvPr/>
          </p:nvSpPr>
          <p:spPr>
            <a:xfrm>
              <a:off x="5491" y="1200973"/>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a:solidFill>
                    <a:schemeClr val="lt1"/>
                  </a:solidFill>
                </a:rPr>
                <a:t>3.2 </a:t>
              </a:r>
              <a:r>
                <a:rPr lang="en-US" sz="1300" b="1" i="0" u="none" strike="noStrike" cap="none">
                  <a:solidFill>
                    <a:schemeClr val="lt1"/>
                  </a:solidFill>
                  <a:latin typeface="Arial"/>
                  <a:ea typeface="Arial"/>
                  <a:cs typeface="Arial"/>
                  <a:sym typeface="Arial"/>
                </a:rPr>
                <a:t>Dataset Collection Strategy</a:t>
              </a:r>
              <a:endParaRPr sz="1300" b="0" i="0" u="none" strike="noStrike" cap="none">
                <a:solidFill>
                  <a:schemeClr val="lt1"/>
                </a:solidFill>
                <a:latin typeface="Arial"/>
                <a:ea typeface="Arial"/>
                <a:cs typeface="Arial"/>
                <a:sym typeface="Arial"/>
              </a:endParaRPr>
            </a:p>
          </p:txBody>
        </p:sp>
        <p:sp>
          <p:nvSpPr>
            <p:cNvPr id="169" name="Google Shape;169;p44"/>
            <p:cNvSpPr/>
            <p:nvPr/>
          </p:nvSpPr>
          <p:spPr>
            <a:xfrm>
              <a:off x="3209172" y="1586483"/>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44"/>
            <p:cNvSpPr txBox="1"/>
            <p:nvPr/>
          </p:nvSpPr>
          <p:spPr>
            <a:xfrm>
              <a:off x="3350912" y="1630550"/>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71" name="Google Shape;171;p44"/>
            <p:cNvSpPr/>
            <p:nvPr/>
          </p:nvSpPr>
          <p:spPr>
            <a:xfrm>
              <a:off x="1773537" y="1200973"/>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4"/>
            <p:cNvSpPr txBox="1"/>
            <p:nvPr/>
          </p:nvSpPr>
          <p:spPr>
            <a:xfrm>
              <a:off x="1773537" y="1200973"/>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Dataset Description</a:t>
              </a:r>
              <a:endParaRPr sz="1300" b="0" i="0" u="none" strike="noStrike" cap="none">
                <a:solidFill>
                  <a:schemeClr val="lt1"/>
                </a:solidFill>
                <a:latin typeface="Arial"/>
                <a:ea typeface="Arial"/>
                <a:cs typeface="Arial"/>
                <a:sym typeface="Arial"/>
              </a:endParaRPr>
            </a:p>
          </p:txBody>
        </p:sp>
        <p:sp>
          <p:nvSpPr>
            <p:cNvPr id="173" name="Google Shape;173;p44"/>
            <p:cNvSpPr/>
            <p:nvPr/>
          </p:nvSpPr>
          <p:spPr>
            <a:xfrm>
              <a:off x="4977217" y="1586483"/>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4"/>
            <p:cNvSpPr txBox="1"/>
            <p:nvPr/>
          </p:nvSpPr>
          <p:spPr>
            <a:xfrm>
              <a:off x="5118957" y="1630550"/>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75" name="Google Shape;175;p44"/>
            <p:cNvSpPr/>
            <p:nvPr/>
          </p:nvSpPr>
          <p:spPr>
            <a:xfrm>
              <a:off x="3541582" y="1200973"/>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4"/>
            <p:cNvSpPr txBox="1"/>
            <p:nvPr/>
          </p:nvSpPr>
          <p:spPr>
            <a:xfrm>
              <a:off x="3541582" y="1200973"/>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Dataset Preprocessing</a:t>
              </a:r>
              <a:endParaRPr sz="1300" b="0" i="0" u="none" strike="noStrike" cap="none">
                <a:solidFill>
                  <a:schemeClr val="lt1"/>
                </a:solidFill>
                <a:latin typeface="Arial"/>
                <a:ea typeface="Arial"/>
                <a:cs typeface="Arial"/>
                <a:sym typeface="Arial"/>
              </a:endParaRPr>
            </a:p>
          </p:txBody>
        </p:sp>
        <p:sp>
          <p:nvSpPr>
            <p:cNvPr id="177" name="Google Shape;177;p44"/>
            <p:cNvSpPr/>
            <p:nvPr/>
          </p:nvSpPr>
          <p:spPr>
            <a:xfrm>
              <a:off x="6745262" y="1586483"/>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44"/>
            <p:cNvSpPr txBox="1"/>
            <p:nvPr/>
          </p:nvSpPr>
          <p:spPr>
            <a:xfrm>
              <a:off x="6887002" y="1630550"/>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79" name="Google Shape;179;p44"/>
            <p:cNvSpPr/>
            <p:nvPr/>
          </p:nvSpPr>
          <p:spPr>
            <a:xfrm>
              <a:off x="5309627" y="1200973"/>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44"/>
            <p:cNvSpPr txBox="1"/>
            <p:nvPr/>
          </p:nvSpPr>
          <p:spPr>
            <a:xfrm>
              <a:off x="5309627" y="1200973"/>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Supervised Models</a:t>
              </a:r>
              <a:endParaRPr sz="1300" b="0" i="0" u="none" strike="noStrike" cap="none">
                <a:solidFill>
                  <a:schemeClr val="lt1"/>
                </a:solidFill>
                <a:latin typeface="Arial"/>
                <a:ea typeface="Arial"/>
                <a:cs typeface="Arial"/>
                <a:sym typeface="Arial"/>
              </a:endParaRPr>
            </a:p>
          </p:txBody>
        </p:sp>
        <p:sp>
          <p:nvSpPr>
            <p:cNvPr id="181" name="Google Shape;181;p44"/>
            <p:cNvSpPr/>
            <p:nvPr/>
          </p:nvSpPr>
          <p:spPr>
            <a:xfrm>
              <a:off x="724209" y="2061634"/>
              <a:ext cx="7072181" cy="300010"/>
            </a:xfrm>
            <a:custGeom>
              <a:avLst/>
              <a:gdLst/>
              <a:ahLst/>
              <a:cxnLst/>
              <a:rect l="l" t="t" r="r" b="b"/>
              <a:pathLst>
                <a:path w="120000" h="120000" extrusionOk="0">
                  <a:moveTo>
                    <a:pt x="120000" y="0"/>
                  </a:moveTo>
                  <a:lnTo>
                    <a:pt x="120000" y="66840"/>
                  </a:lnTo>
                  <a:lnTo>
                    <a:pt x="0" y="66840"/>
                  </a:lnTo>
                  <a:lnTo>
                    <a:pt x="0" y="12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44"/>
            <p:cNvSpPr txBox="1"/>
            <p:nvPr/>
          </p:nvSpPr>
          <p:spPr>
            <a:xfrm>
              <a:off x="4083302" y="2209986"/>
              <a:ext cx="353995"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83" name="Google Shape;183;p44"/>
            <p:cNvSpPr/>
            <p:nvPr/>
          </p:nvSpPr>
          <p:spPr>
            <a:xfrm>
              <a:off x="7077673" y="1200973"/>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44"/>
            <p:cNvSpPr txBox="1"/>
            <p:nvPr/>
          </p:nvSpPr>
          <p:spPr>
            <a:xfrm>
              <a:off x="7077673" y="1200973"/>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Self-Supervised Learning (SSL) Architecture</a:t>
              </a:r>
              <a:endParaRPr sz="1300" b="0" i="0" u="none" strike="noStrike" cap="none">
                <a:solidFill>
                  <a:schemeClr val="lt1"/>
                </a:solidFill>
                <a:latin typeface="Arial"/>
                <a:ea typeface="Arial"/>
                <a:cs typeface="Arial"/>
                <a:sym typeface="Arial"/>
              </a:endParaRPr>
            </a:p>
          </p:txBody>
        </p:sp>
        <p:sp>
          <p:nvSpPr>
            <p:cNvPr id="185" name="Google Shape;185;p44"/>
            <p:cNvSpPr/>
            <p:nvPr/>
          </p:nvSpPr>
          <p:spPr>
            <a:xfrm>
              <a:off x="1441126" y="2779555"/>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44"/>
            <p:cNvSpPr txBox="1"/>
            <p:nvPr/>
          </p:nvSpPr>
          <p:spPr>
            <a:xfrm>
              <a:off x="1582866" y="2823622"/>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87" name="Google Shape;187;p44"/>
            <p:cNvSpPr/>
            <p:nvPr/>
          </p:nvSpPr>
          <p:spPr>
            <a:xfrm>
              <a:off x="5491" y="2394044"/>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44"/>
            <p:cNvSpPr txBox="1"/>
            <p:nvPr/>
          </p:nvSpPr>
          <p:spPr>
            <a:xfrm>
              <a:off x="5491" y="2394044"/>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Explainable AI (XAI) Techniques</a:t>
              </a:r>
              <a:endParaRPr sz="1300" b="0" i="0" u="none" strike="noStrike" cap="none">
                <a:solidFill>
                  <a:schemeClr val="lt1"/>
                </a:solidFill>
                <a:latin typeface="Arial"/>
                <a:ea typeface="Arial"/>
                <a:cs typeface="Arial"/>
                <a:sym typeface="Arial"/>
              </a:endParaRPr>
            </a:p>
          </p:txBody>
        </p:sp>
        <p:sp>
          <p:nvSpPr>
            <p:cNvPr id="189" name="Google Shape;189;p44"/>
            <p:cNvSpPr/>
            <p:nvPr/>
          </p:nvSpPr>
          <p:spPr>
            <a:xfrm>
              <a:off x="3209172" y="2779555"/>
              <a:ext cx="300010" cy="91440"/>
            </a:xfrm>
            <a:custGeom>
              <a:avLst/>
              <a:gdLst/>
              <a:ahLst/>
              <a:cxnLst/>
              <a:rect l="l" t="t" r="r" b="b"/>
              <a:pathLst>
                <a:path w="120000" h="120000" extrusionOk="0">
                  <a:moveTo>
                    <a:pt x="0" y="60000"/>
                  </a:moveTo>
                  <a:lnTo>
                    <a:pt x="120000" y="60000"/>
                  </a:lnTo>
                </a:path>
              </a:pathLst>
            </a:custGeom>
            <a:noFill/>
            <a:ln w="9525" cap="flat" cmpd="sng">
              <a:solidFill>
                <a:schemeClr val="accent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44"/>
            <p:cNvSpPr txBox="1"/>
            <p:nvPr/>
          </p:nvSpPr>
          <p:spPr>
            <a:xfrm>
              <a:off x="3350912" y="2823622"/>
              <a:ext cx="16530" cy="330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191" name="Google Shape;191;p44"/>
            <p:cNvSpPr/>
            <p:nvPr/>
          </p:nvSpPr>
          <p:spPr>
            <a:xfrm>
              <a:off x="1773537" y="2394044"/>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44"/>
            <p:cNvSpPr txBox="1"/>
            <p:nvPr/>
          </p:nvSpPr>
          <p:spPr>
            <a:xfrm>
              <a:off x="1773537" y="2394044"/>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Realtime Web Application Dashboard</a:t>
              </a:r>
              <a:endParaRPr sz="1300" b="0" i="0" u="none" strike="noStrike" cap="none">
                <a:solidFill>
                  <a:schemeClr val="lt1"/>
                </a:solidFill>
                <a:latin typeface="Arial"/>
                <a:ea typeface="Arial"/>
                <a:cs typeface="Arial"/>
                <a:sym typeface="Arial"/>
              </a:endParaRPr>
            </a:p>
          </p:txBody>
        </p:sp>
        <p:sp>
          <p:nvSpPr>
            <p:cNvPr id="193" name="Google Shape;193;p44"/>
            <p:cNvSpPr/>
            <p:nvPr/>
          </p:nvSpPr>
          <p:spPr>
            <a:xfrm>
              <a:off x="3541582" y="2394044"/>
              <a:ext cx="1437435" cy="862461"/>
            </a:xfrm>
            <a:prstGeom prst="rect">
              <a:avLst/>
            </a:prstGeom>
            <a:gradFill>
              <a:gsLst>
                <a:gs pos="0">
                  <a:srgbClr val="003255"/>
                </a:gs>
                <a:gs pos="100000">
                  <a:srgbClr val="B2B9C7"/>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44"/>
            <p:cNvSpPr txBox="1"/>
            <p:nvPr/>
          </p:nvSpPr>
          <p:spPr>
            <a:xfrm>
              <a:off x="3541582" y="2394044"/>
              <a:ext cx="1437435" cy="862461"/>
            </a:xfrm>
            <a:prstGeom prst="rect">
              <a:avLst/>
            </a:prstGeom>
            <a:noFill/>
            <a:ln>
              <a:noFill/>
            </a:ln>
          </p:spPr>
          <p:txBody>
            <a:bodyPr spcFirstLastPara="1" wrap="square" lIns="70425" tIns="73925" rIns="70425" bIns="73925"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US" sz="1300" b="1" i="0" u="none" strike="noStrike" cap="none">
                  <a:solidFill>
                    <a:schemeClr val="lt1"/>
                  </a:solidFill>
                  <a:latin typeface="Arial"/>
                  <a:ea typeface="Arial"/>
                  <a:cs typeface="Arial"/>
                  <a:sym typeface="Arial"/>
                </a:rPr>
                <a:t>Robotic Arm Functionalities</a:t>
              </a:r>
              <a:endParaRPr sz="1300" b="0" i="0" u="none" strike="noStrike" cap="none">
                <a:solidFill>
                  <a:schemeClr val="lt1"/>
                </a:solidFill>
                <a:latin typeface="Arial"/>
                <a:ea typeface="Arial"/>
                <a:cs typeface="Arial"/>
                <a:sym typeface="Arial"/>
              </a:endParaRPr>
            </a:p>
          </p:txBody>
        </p:sp>
      </p:grpSp>
      <p:sp>
        <p:nvSpPr>
          <p:cNvPr id="195" name="Google Shape;195;p44"/>
          <p:cNvSpPr txBox="1">
            <a:spLocks noGrp="1"/>
          </p:cNvSpPr>
          <p:nvPr>
            <p:ph type="title"/>
          </p:nvPr>
        </p:nvSpPr>
        <p:spPr>
          <a:xfrm>
            <a:off x="375310" y="397558"/>
            <a:ext cx="8520600" cy="623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lt1"/>
              </a:buClr>
              <a:buSzPts val="2800"/>
              <a:buNone/>
            </a:pPr>
            <a:r>
              <a:rPr lang="en-US"/>
              <a:t>Contents at a  glance</a:t>
            </a:r>
            <a:endParaRPr/>
          </a:p>
        </p:txBody>
      </p:sp>
      <p:pic>
        <p:nvPicPr>
          <p:cNvPr id="196" name="Google Shape;196;p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flip dir="l"/>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45"/>
          <p:cNvSpPr txBox="1"/>
          <p:nvPr/>
        </p:nvSpPr>
        <p:spPr>
          <a:xfrm>
            <a:off x="210700"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Introduction </a:t>
            </a:r>
            <a:endParaRPr/>
          </a:p>
        </p:txBody>
      </p:sp>
      <p:sp>
        <p:nvSpPr>
          <p:cNvPr id="202" name="Google Shape;202;p45"/>
          <p:cNvSpPr txBox="1"/>
          <p:nvPr/>
        </p:nvSpPr>
        <p:spPr>
          <a:xfrm>
            <a:off x="1046950" y="1659125"/>
            <a:ext cx="7044600" cy="3012300"/>
          </a:xfrm>
          <a:prstGeom prst="rect">
            <a:avLst/>
          </a:prstGeom>
          <a:noFill/>
          <a:ln w="38100" cap="flat" cmpd="sng">
            <a:solidFill>
              <a:srgbClr val="0C343D"/>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None/>
            </a:pPr>
            <a:r>
              <a:rPr lang="en-US" sz="1800" b="1" u="sng">
                <a:latin typeface="Merriweather"/>
                <a:ea typeface="Merriweather"/>
                <a:cs typeface="Merriweather"/>
                <a:sym typeface="Merriweather"/>
              </a:rPr>
              <a:t>Background</a:t>
            </a:r>
            <a:endParaRPr sz="1800" b="1" u="sng">
              <a:latin typeface="Merriweather"/>
              <a:ea typeface="Merriweather"/>
              <a:cs typeface="Merriweather"/>
              <a:sym typeface="Merriweather"/>
            </a:endParaRPr>
          </a:p>
          <a:p>
            <a:pPr marL="0" marR="0" lvl="0" indent="0" algn="just" rtl="0">
              <a:lnSpc>
                <a:spcPct val="100000"/>
              </a:lnSpc>
              <a:spcBef>
                <a:spcPts val="0"/>
              </a:spcBef>
              <a:spcAft>
                <a:spcPts val="0"/>
              </a:spcAft>
              <a:buNone/>
            </a:pPr>
            <a:endParaRPr sz="1800" b="1" u="sng">
              <a:latin typeface="Merriweather"/>
              <a:ea typeface="Merriweather"/>
              <a:cs typeface="Merriweather"/>
              <a:sym typeface="Merriweather"/>
            </a:endParaRPr>
          </a:p>
          <a:p>
            <a:pPr marL="0" marR="0" lvl="0" indent="0" algn="just" rtl="0">
              <a:lnSpc>
                <a:spcPct val="100000"/>
              </a:lnSpc>
              <a:spcBef>
                <a:spcPts val="0"/>
              </a:spcBef>
              <a:spcAft>
                <a:spcPts val="0"/>
              </a:spcAft>
              <a:buNone/>
            </a:pPr>
            <a:r>
              <a:rPr lang="en-US">
                <a:latin typeface="Merriweather"/>
                <a:ea typeface="Merriweather"/>
                <a:cs typeface="Merriweather"/>
                <a:sym typeface="Merriweather"/>
              </a:rPr>
              <a:t>In modern agriculture, vegetable sorting is still mostly done by hand, making the process slow and inaccurate. This leads to mistakes, higher costs, and food waste. Since vegetables spoil quickly, there is a strong need for a faster and more reliable automated system to sort them by freshness and quality.</a:t>
            </a:r>
            <a:endParaRPr>
              <a:latin typeface="Merriweather"/>
              <a:ea typeface="Merriweather"/>
              <a:cs typeface="Merriweather"/>
              <a:sym typeface="Merriweather"/>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6"/>
          <p:cNvSpPr txBox="1"/>
          <p:nvPr/>
        </p:nvSpPr>
        <p:spPr>
          <a:xfrm>
            <a:off x="210700"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Introduction </a:t>
            </a:r>
            <a:endParaRPr/>
          </a:p>
        </p:txBody>
      </p:sp>
      <p:sp>
        <p:nvSpPr>
          <p:cNvPr id="208" name="Google Shape;208;p46"/>
          <p:cNvSpPr txBox="1"/>
          <p:nvPr/>
        </p:nvSpPr>
        <p:spPr>
          <a:xfrm>
            <a:off x="5153500" y="1600925"/>
            <a:ext cx="3774300" cy="3086400"/>
          </a:xfrm>
          <a:prstGeom prst="rect">
            <a:avLst/>
          </a:prstGeom>
          <a:noFill/>
          <a:ln w="381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u="sng" dirty="0">
                <a:latin typeface="Merriweather"/>
                <a:ea typeface="Merriweather"/>
                <a:cs typeface="Merriweather"/>
                <a:sym typeface="Merriweather"/>
              </a:rPr>
              <a:t>Research Question</a:t>
            </a:r>
            <a:endParaRPr sz="1800" b="1" u="sng">
              <a:latin typeface="Merriweather"/>
              <a:ea typeface="Merriweather"/>
              <a:cs typeface="Merriweather"/>
              <a:sym typeface="Merriweather"/>
            </a:endParaRPr>
          </a:p>
          <a:p>
            <a:pPr marL="914400" marR="0" lvl="0" indent="0" algn="l" rtl="0">
              <a:lnSpc>
                <a:spcPct val="100000"/>
              </a:lnSpc>
              <a:spcBef>
                <a:spcPts val="0"/>
              </a:spcBef>
              <a:spcAft>
                <a:spcPts val="0"/>
              </a:spcAft>
              <a:buNone/>
            </a:pPr>
            <a:endParaRPr sz="1800" b="1" u="sng">
              <a:latin typeface="Times New Roman"/>
              <a:ea typeface="Times New Roman"/>
              <a:cs typeface="Times New Roman"/>
              <a:sym typeface="Times New Roman"/>
            </a:endParaRPr>
          </a:p>
          <a:p>
            <a:pPr marL="342900" lvl="0" indent="-317500" algn="l" rtl="0">
              <a:spcBef>
                <a:spcPts val="0"/>
              </a:spcBef>
              <a:spcAft>
                <a:spcPts val="0"/>
              </a:spcAft>
              <a:buSzPts val="1400"/>
              <a:buAutoNum type="arabicPeriod"/>
            </a:pPr>
            <a:r>
              <a:rPr lang="en-US" dirty="0">
                <a:latin typeface="Merriweather"/>
                <a:ea typeface="Merriweather"/>
                <a:cs typeface="Merriweather"/>
                <a:sym typeface="Merriweather"/>
              </a:rPr>
              <a:t>How can SSL improve freshness detection with minimal labels?</a:t>
            </a:r>
            <a:endParaRPr>
              <a:latin typeface="Merriweather"/>
              <a:ea typeface="Merriweather"/>
              <a:cs typeface="Merriweather"/>
              <a:sym typeface="Merriweather"/>
            </a:endParaRPr>
          </a:p>
          <a:p>
            <a:pPr marL="457200" lvl="0" indent="0" algn="l" rtl="0">
              <a:spcBef>
                <a:spcPts val="0"/>
              </a:spcBef>
              <a:spcAft>
                <a:spcPts val="0"/>
              </a:spcAft>
              <a:buNone/>
            </a:pPr>
            <a:endParaRPr>
              <a:latin typeface="Merriweather"/>
              <a:ea typeface="Merriweather"/>
              <a:cs typeface="Merriweather"/>
              <a:sym typeface="Merriweather"/>
            </a:endParaRPr>
          </a:p>
          <a:p>
            <a:pPr marL="342900" lvl="0" indent="-317500" algn="l" rtl="0">
              <a:spcBef>
                <a:spcPts val="0"/>
              </a:spcBef>
              <a:spcAft>
                <a:spcPts val="0"/>
              </a:spcAft>
              <a:buSzPts val="1400"/>
            </a:pPr>
            <a:r>
              <a:rPr lang="en-US" dirty="0">
                <a:latin typeface="Merriweather"/>
                <a:ea typeface="Merriweather"/>
                <a:cs typeface="Merriweather"/>
                <a:sym typeface="Merriweather"/>
              </a:rPr>
              <a:t>2.    How can AI models sustain &gt; 95% accuracy in real-time?</a:t>
            </a:r>
            <a:endParaRPr>
              <a:latin typeface="Merriweather"/>
              <a:ea typeface="Merriweather"/>
              <a:cs typeface="Merriweather"/>
              <a:sym typeface="Merriweather"/>
            </a:endParaRPr>
          </a:p>
          <a:p>
            <a:pPr marL="457200" lvl="0" indent="0" algn="l" rtl="0">
              <a:spcBef>
                <a:spcPts val="0"/>
              </a:spcBef>
              <a:spcAft>
                <a:spcPts val="0"/>
              </a:spcAft>
              <a:buNone/>
            </a:pPr>
            <a:endParaRPr>
              <a:latin typeface="Merriweather"/>
              <a:ea typeface="Merriweather"/>
              <a:cs typeface="Merriweather"/>
              <a:sym typeface="Merriweather"/>
            </a:endParaRPr>
          </a:p>
          <a:p>
            <a:pPr marL="342900" lvl="0" indent="-317500" algn="l" rtl="0">
              <a:spcBef>
                <a:spcPts val="0"/>
              </a:spcBef>
              <a:spcAft>
                <a:spcPts val="0"/>
              </a:spcAft>
              <a:buSzPts val="1400"/>
            </a:pPr>
            <a:r>
              <a:rPr lang="en-US" dirty="0">
                <a:latin typeface="Merriweather"/>
                <a:ea typeface="Merriweather"/>
                <a:cs typeface="Merriweather"/>
                <a:sym typeface="Merriweather"/>
              </a:rPr>
              <a:t>3.    How can an AI–robotic arm cooperate efficiently?</a:t>
            </a:r>
            <a:endParaRPr>
              <a:latin typeface="Merriweather"/>
              <a:ea typeface="Merriweather"/>
              <a:cs typeface="Merriweather"/>
              <a:sym typeface="Merriweather"/>
            </a:endParaRPr>
          </a:p>
          <a:p>
            <a:pPr marL="457200" lvl="0" indent="0" algn="l" rtl="0">
              <a:spcBef>
                <a:spcPts val="0"/>
              </a:spcBef>
              <a:spcAft>
                <a:spcPts val="0"/>
              </a:spcAft>
              <a:buNone/>
            </a:pPr>
            <a:endParaRPr>
              <a:latin typeface="Merriweather"/>
              <a:ea typeface="Merriweather"/>
              <a:cs typeface="Merriweather"/>
              <a:sym typeface="Merriweather"/>
            </a:endParaRPr>
          </a:p>
          <a:p>
            <a:pPr marL="342900" lvl="0" indent="-317500" algn="l" rtl="0">
              <a:spcBef>
                <a:spcPts val="0"/>
              </a:spcBef>
              <a:spcAft>
                <a:spcPts val="0"/>
              </a:spcAft>
              <a:buSzPts val="1400"/>
            </a:pPr>
            <a:r>
              <a:rPr lang="en-US" dirty="0">
                <a:latin typeface="Merriweather"/>
                <a:ea typeface="Merriweather"/>
                <a:cs typeface="Merriweather"/>
                <a:sym typeface="Merriweather"/>
              </a:rPr>
              <a:t>4.    How do environmental factors affect system reliability?</a:t>
            </a:r>
            <a:endParaRPr/>
          </a:p>
          <a:p>
            <a:pPr marL="342900" lvl="0" indent="-254000" algn="l" rtl="0">
              <a:spcBef>
                <a:spcPts val="0"/>
              </a:spcBef>
              <a:spcAft>
                <a:spcPts val="0"/>
              </a:spcAft>
              <a:buClr>
                <a:srgbClr val="000000"/>
              </a:buClr>
              <a:buSzPts val="1400"/>
              <a:buFont typeface="Arial"/>
              <a:buNone/>
            </a:pPr>
            <a:endParaRPr/>
          </a:p>
          <a:p>
            <a:pPr marL="285750" marR="0" lvl="0" indent="-184150" algn="just" rtl="0">
              <a:lnSpc>
                <a:spcPct val="100000"/>
              </a:lnSpc>
              <a:spcBef>
                <a:spcPts val="0"/>
              </a:spcBef>
              <a:spcAft>
                <a:spcPts val="0"/>
              </a:spcAft>
              <a:buClr>
                <a:srgbClr val="000000"/>
              </a:buClr>
              <a:buSzPts val="1600"/>
              <a:buFont typeface="Noto Sans Symbols"/>
              <a:buNone/>
            </a:pPr>
            <a:endParaRPr sz="1600">
              <a:latin typeface="Merriweather"/>
              <a:ea typeface="Merriweather"/>
              <a:cs typeface="Merriweather"/>
              <a:sym typeface="Merriweather"/>
            </a:endParaRPr>
          </a:p>
          <a:p>
            <a:pPr marL="457200" marR="0" lvl="0" indent="0" algn="just" rtl="0">
              <a:lnSpc>
                <a:spcPct val="100000"/>
              </a:lnSpc>
              <a:spcBef>
                <a:spcPts val="0"/>
              </a:spcBef>
              <a:spcAft>
                <a:spcPts val="0"/>
              </a:spcAft>
              <a:buNone/>
            </a:pPr>
            <a:endParaRPr sz="1600" b="1" i="0" u="none" strike="noStrike" cap="none">
              <a:solidFill>
                <a:srgbClr val="000000"/>
              </a:solidFill>
              <a:latin typeface="Merriweather"/>
              <a:ea typeface="Merriweather"/>
              <a:cs typeface="Merriweather"/>
              <a:sym typeface="Merriweather"/>
            </a:endParaRPr>
          </a:p>
        </p:txBody>
      </p:sp>
      <p:sp>
        <p:nvSpPr>
          <p:cNvPr id="209" name="Google Shape;209;p46"/>
          <p:cNvSpPr txBox="1"/>
          <p:nvPr/>
        </p:nvSpPr>
        <p:spPr>
          <a:xfrm>
            <a:off x="280425" y="1337800"/>
            <a:ext cx="4240800" cy="3940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000000"/>
              </a:buClr>
              <a:buFont typeface="Arial"/>
              <a:buNone/>
            </a:pPr>
            <a:r>
              <a:rPr lang="en-US" sz="1800" b="1" u="sng" dirty="0">
                <a:latin typeface="Merriweather"/>
                <a:ea typeface="Merriweather"/>
                <a:cs typeface="Merriweather"/>
                <a:sym typeface="Merriweather"/>
              </a:rPr>
              <a:t>Objective</a:t>
            </a:r>
            <a:endParaRPr sz="1800" b="1" u="sng">
              <a:latin typeface="Merriweather"/>
              <a:ea typeface="Merriweather"/>
              <a:cs typeface="Merriweather"/>
              <a:sym typeface="Merriweather"/>
            </a:endParaRPr>
          </a:p>
          <a:p>
            <a:pPr marL="0" lvl="0" indent="0" algn="l" rtl="0">
              <a:spcBef>
                <a:spcPts val="0"/>
              </a:spcBef>
              <a:spcAft>
                <a:spcPts val="0"/>
              </a:spcAft>
              <a:buClr>
                <a:srgbClr val="000000"/>
              </a:buClr>
              <a:buFont typeface="Arial"/>
              <a:buNone/>
            </a:pPr>
            <a:endParaRPr sz="1800">
              <a:latin typeface="Merriweather"/>
              <a:ea typeface="Merriweather"/>
              <a:cs typeface="Merriweather"/>
              <a:sym typeface="Merriweather"/>
            </a:endParaRPr>
          </a:p>
          <a:p>
            <a:pPr marL="457200" lvl="0" indent="-317500" algn="just" rtl="0">
              <a:spcBef>
                <a:spcPts val="0"/>
              </a:spcBef>
              <a:spcAft>
                <a:spcPts val="0"/>
              </a:spcAft>
              <a:buSzPts val="1400"/>
              <a:buFont typeface="Merriweather"/>
              <a:buAutoNum type="arabicPeriod"/>
            </a:pPr>
            <a:r>
              <a:rPr lang="en-US" dirty="0">
                <a:latin typeface="Merriweather"/>
                <a:ea typeface="Merriweather"/>
                <a:cs typeface="Merriweather"/>
                <a:sym typeface="Merriweather"/>
              </a:rPr>
              <a:t>Develop </a:t>
            </a:r>
            <a:r>
              <a:rPr lang="en-US" b="1" dirty="0">
                <a:latin typeface="Merriweather"/>
                <a:ea typeface="Merriweather"/>
                <a:cs typeface="Merriweather"/>
                <a:sym typeface="Merriweather"/>
              </a:rPr>
              <a:t>a self-supervised learning model </a:t>
            </a:r>
            <a:r>
              <a:rPr lang="en-US" dirty="0">
                <a:latin typeface="Merriweather"/>
                <a:ea typeface="Merriweather"/>
                <a:cs typeface="Merriweather"/>
                <a:sym typeface="Merriweather"/>
              </a:rPr>
              <a:t>for multi-class </a:t>
            </a:r>
            <a:r>
              <a:rPr lang="en-US" b="1" dirty="0">
                <a:latin typeface="Merriweather"/>
                <a:ea typeface="Merriweather"/>
                <a:cs typeface="Merriweather"/>
                <a:sym typeface="Merriweather"/>
              </a:rPr>
              <a:t>vegetable freshness detection</a:t>
            </a:r>
            <a:r>
              <a:rPr lang="en-US" dirty="0">
                <a:latin typeface="Merriweather"/>
                <a:ea typeface="Merriweather"/>
                <a:cs typeface="Merriweather"/>
                <a:sym typeface="Merriweather"/>
              </a:rPr>
              <a:t> with minimal labeled data.</a:t>
            </a:r>
            <a:endParaRPr/>
          </a:p>
          <a:p>
            <a:pPr marL="0" lvl="0" indent="0" algn="just" rtl="0">
              <a:spcBef>
                <a:spcPts val="0"/>
              </a:spcBef>
              <a:spcAft>
                <a:spcPts val="0"/>
              </a:spcAft>
              <a:buClr>
                <a:srgbClr val="000000"/>
              </a:buClr>
              <a:buFont typeface="Arial"/>
              <a:buNone/>
            </a:pPr>
            <a:endParaRPr>
              <a:latin typeface="Merriweather"/>
              <a:ea typeface="Merriweather"/>
              <a:cs typeface="Merriweather"/>
              <a:sym typeface="Merriweather"/>
            </a:endParaRPr>
          </a:p>
          <a:p>
            <a:pPr marL="457200" lvl="0" indent="-317500" algn="just" rtl="0">
              <a:spcBef>
                <a:spcPts val="0"/>
              </a:spcBef>
              <a:spcAft>
                <a:spcPts val="0"/>
              </a:spcAft>
              <a:buSzPts val="1400"/>
            </a:pPr>
            <a:r>
              <a:rPr lang="en-US" dirty="0">
                <a:latin typeface="Merriweather"/>
                <a:ea typeface="Merriweather"/>
                <a:cs typeface="Merriweather"/>
                <a:sym typeface="Merriweather"/>
              </a:rPr>
              <a:t>2.</a:t>
            </a:r>
            <a:r>
              <a:rPr lang="en-US" b="1" dirty="0">
                <a:latin typeface="Merriweather"/>
                <a:ea typeface="Merriweather"/>
                <a:cs typeface="Merriweather"/>
                <a:sym typeface="Merriweather"/>
              </a:rPr>
              <a:t> Optimize </a:t>
            </a:r>
            <a:r>
              <a:rPr lang="en-US" dirty="0">
                <a:latin typeface="Merriweather"/>
                <a:ea typeface="Merriweather"/>
                <a:cs typeface="Merriweather"/>
                <a:sym typeface="Merriweather"/>
              </a:rPr>
              <a:t>AI architecture for </a:t>
            </a:r>
            <a:r>
              <a:rPr lang="en-US" b="1" dirty="0">
                <a:latin typeface="Merriweather"/>
                <a:ea typeface="Merriweather"/>
                <a:cs typeface="Merriweather"/>
                <a:sym typeface="Merriweather"/>
              </a:rPr>
              <a:t>real-time performance</a:t>
            </a:r>
            <a:r>
              <a:rPr lang="en-US" dirty="0">
                <a:latin typeface="Merriweather"/>
                <a:ea typeface="Merriweather"/>
                <a:cs typeface="Merriweather"/>
                <a:sym typeface="Merriweather"/>
              </a:rPr>
              <a:t> and </a:t>
            </a:r>
            <a:r>
              <a:rPr lang="en-US" b="1" dirty="0">
                <a:latin typeface="Merriweather"/>
                <a:ea typeface="Merriweather"/>
                <a:cs typeface="Merriweather"/>
                <a:sym typeface="Merriweather"/>
              </a:rPr>
              <a:t>integration with </a:t>
            </a:r>
            <a:r>
              <a:rPr lang="en-US" b="1" dirty="0" err="1">
                <a:latin typeface="Merriweather"/>
                <a:ea typeface="Merriweather"/>
                <a:cs typeface="Merriweather"/>
                <a:sym typeface="Merriweather"/>
              </a:rPr>
              <a:t>xArm</a:t>
            </a:r>
            <a:r>
              <a:rPr lang="en-US" b="1" dirty="0">
                <a:latin typeface="Merriweather"/>
                <a:ea typeface="Merriweather"/>
                <a:cs typeface="Merriweather"/>
                <a:sym typeface="Merriweather"/>
              </a:rPr>
              <a:t> 1s robotic arm</a:t>
            </a:r>
            <a:r>
              <a:rPr lang="en-US" dirty="0">
                <a:latin typeface="Merriweather"/>
                <a:ea typeface="Merriweather"/>
                <a:cs typeface="Merriweather"/>
                <a:sym typeface="Merriweather"/>
              </a:rPr>
              <a:t> to achieve </a:t>
            </a:r>
            <a:r>
              <a:rPr lang="en-US" b="1" dirty="0">
                <a:latin typeface="Merriweather"/>
                <a:ea typeface="Merriweather"/>
                <a:cs typeface="Merriweather"/>
                <a:sym typeface="Merriweather"/>
              </a:rPr>
              <a:t>&gt;95% sorting accuracy</a:t>
            </a:r>
            <a:r>
              <a:rPr lang="en-US" dirty="0">
                <a:latin typeface="Merriweather"/>
                <a:ea typeface="Merriweather"/>
                <a:cs typeface="Merriweather"/>
                <a:sym typeface="Merriweather"/>
              </a:rPr>
              <a:t>.</a:t>
            </a:r>
            <a:endParaRPr/>
          </a:p>
          <a:p>
            <a:pPr marL="0" lvl="0" indent="0" algn="just" rtl="0">
              <a:spcBef>
                <a:spcPts val="0"/>
              </a:spcBef>
              <a:spcAft>
                <a:spcPts val="0"/>
              </a:spcAft>
              <a:buClr>
                <a:srgbClr val="000000"/>
              </a:buClr>
              <a:buFont typeface="Arial"/>
              <a:buNone/>
            </a:pPr>
            <a:endParaRPr>
              <a:latin typeface="Merriweather"/>
              <a:ea typeface="Merriweather"/>
              <a:cs typeface="Merriweather"/>
              <a:sym typeface="Merriweather"/>
            </a:endParaRPr>
          </a:p>
          <a:p>
            <a:pPr marL="457200" lvl="0" indent="-317500" algn="just" rtl="0">
              <a:spcBef>
                <a:spcPts val="0"/>
              </a:spcBef>
              <a:spcAft>
                <a:spcPts val="0"/>
              </a:spcAft>
              <a:buSzPts val="1400"/>
            </a:pPr>
            <a:r>
              <a:rPr lang="en-US" dirty="0">
                <a:latin typeface="Merriweather"/>
                <a:ea typeface="Merriweather"/>
                <a:cs typeface="Merriweather"/>
                <a:sym typeface="Merriweather"/>
              </a:rPr>
              <a:t>3</a:t>
            </a:r>
            <a:r>
              <a:rPr lang="en-US" b="1" dirty="0">
                <a:latin typeface="Merriweather"/>
                <a:ea typeface="Merriweather"/>
                <a:cs typeface="Merriweather"/>
                <a:sym typeface="Merriweather"/>
              </a:rPr>
              <a:t>.  Analyze </a:t>
            </a:r>
            <a:r>
              <a:rPr lang="en-US" dirty="0">
                <a:latin typeface="Merriweather"/>
                <a:ea typeface="Merriweather"/>
                <a:cs typeface="Merriweather"/>
                <a:sym typeface="Merriweather"/>
              </a:rPr>
              <a:t>environmental impacts (lighting, conveyor speed) and propose </a:t>
            </a:r>
            <a:r>
              <a:rPr lang="en-US" b="1" dirty="0">
                <a:latin typeface="Merriweather"/>
                <a:ea typeface="Merriweather"/>
                <a:cs typeface="Merriweather"/>
                <a:sym typeface="Merriweather"/>
              </a:rPr>
              <a:t>adaptive solutions</a:t>
            </a:r>
            <a:r>
              <a:rPr lang="en-US" dirty="0">
                <a:latin typeface="Merriweather"/>
                <a:ea typeface="Merriweather"/>
                <a:cs typeface="Merriweather"/>
                <a:sym typeface="Merriweather"/>
              </a:rPr>
              <a:t> for improved </a:t>
            </a:r>
            <a:r>
              <a:rPr lang="en-US" b="1" dirty="0">
                <a:latin typeface="Merriweather"/>
                <a:ea typeface="Merriweather"/>
                <a:cs typeface="Merriweather"/>
                <a:sym typeface="Merriweather"/>
              </a:rPr>
              <a:t>reliability and scalability</a:t>
            </a:r>
            <a:r>
              <a:rPr lang="en-US" dirty="0">
                <a:latin typeface="Merriweather"/>
                <a:ea typeface="Merriweather"/>
                <a:cs typeface="Merriweather"/>
                <a:sym typeface="Merriweather"/>
              </a:rPr>
              <a:t>.</a:t>
            </a:r>
            <a:endParaRPr/>
          </a:p>
          <a:p>
            <a:pPr marL="342900" marR="0" lvl="0" indent="-254000" algn="l" rtl="0">
              <a:lnSpc>
                <a:spcPct val="100000"/>
              </a:lnSpc>
              <a:spcBef>
                <a:spcPts val="0"/>
              </a:spcBef>
              <a:spcAft>
                <a:spcPts val="0"/>
              </a:spcAft>
              <a:buClr>
                <a:srgbClr val="000000"/>
              </a:buClr>
              <a:buSzPts val="1400"/>
              <a:buFont typeface="Arial"/>
              <a:buNone/>
            </a:pPr>
            <a:endParaRPr sz="1800">
              <a:latin typeface="Merriweather"/>
              <a:ea typeface="Merriweather"/>
              <a:cs typeface="Merriweather"/>
              <a:sym typeface="Merriweather"/>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7"/>
          <p:cNvSpPr txBox="1"/>
          <p:nvPr/>
        </p:nvSpPr>
        <p:spPr>
          <a:xfrm>
            <a:off x="210700"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r>
              <a:rPr lang="en-US" sz="2800">
                <a:solidFill>
                  <a:schemeClr val="lt1"/>
                </a:solidFill>
                <a:latin typeface="Merriweather"/>
                <a:ea typeface="Merriweather"/>
                <a:cs typeface="Merriweather"/>
                <a:sym typeface="Merriweather"/>
              </a:rPr>
              <a:t>Related Works</a:t>
            </a:r>
            <a:endParaRPr/>
          </a:p>
        </p:txBody>
      </p:sp>
      <p:sp>
        <p:nvSpPr>
          <p:cNvPr id="215" name="Google Shape;215;p47"/>
          <p:cNvSpPr txBox="1"/>
          <p:nvPr/>
        </p:nvSpPr>
        <p:spPr>
          <a:xfrm>
            <a:off x="774700" y="1849525"/>
            <a:ext cx="7545900" cy="2031900"/>
          </a:xfrm>
          <a:prstGeom prst="rect">
            <a:avLst/>
          </a:prstGeom>
          <a:noFill/>
          <a:ln>
            <a:noFill/>
          </a:ln>
        </p:spPr>
        <p:txBody>
          <a:bodyPr spcFirstLastPara="1" wrap="square" lIns="91425" tIns="45700" rIns="91425" bIns="45700" anchor="t" anchorCtr="0">
            <a:spAutoFit/>
          </a:bodyPr>
          <a:lstStyle/>
          <a:p>
            <a:pPr marL="342900" marR="0" lvl="0" indent="-317500" algn="l" rtl="0">
              <a:lnSpc>
                <a:spcPct val="100000"/>
              </a:lnSpc>
              <a:spcBef>
                <a:spcPts val="0"/>
              </a:spcBef>
              <a:spcAft>
                <a:spcPts val="0"/>
              </a:spcAft>
              <a:buClr>
                <a:srgbClr val="000000"/>
              </a:buClr>
              <a:buSzPts val="1400"/>
              <a:buFont typeface="Arial"/>
              <a:buAutoNum type="arabicPeriod"/>
            </a:pPr>
            <a:r>
              <a:rPr lang="en-US" i="0" u="none" strike="noStrike" cap="none" dirty="0">
                <a:solidFill>
                  <a:srgbClr val="000000"/>
                </a:solidFill>
                <a:latin typeface="Merriweather"/>
                <a:ea typeface="Merriweather"/>
                <a:cs typeface="Merriweather"/>
                <a:sym typeface="Merriweather"/>
              </a:rPr>
              <a:t>Reviewed </a:t>
            </a:r>
            <a:r>
              <a:rPr lang="en-US" b="1" i="0" u="none" strike="noStrike" cap="none" dirty="0">
                <a:solidFill>
                  <a:srgbClr val="000000"/>
                </a:solidFill>
                <a:latin typeface="Merriweather"/>
                <a:ea typeface="Merriweather"/>
                <a:cs typeface="Merriweather"/>
                <a:sym typeface="Merriweather"/>
              </a:rPr>
              <a:t>30 studies</a:t>
            </a:r>
            <a:r>
              <a:rPr lang="en-US" i="0" u="none" strike="noStrike" cap="none" dirty="0">
                <a:solidFill>
                  <a:srgbClr val="000000"/>
                </a:solidFill>
                <a:latin typeface="Merriweather"/>
                <a:ea typeface="Merriweather"/>
                <a:cs typeface="Merriweather"/>
                <a:sym typeface="Merriweather"/>
              </a:rPr>
              <a:t> on fruit, vegetable, and crop detection/classification using datasets like FRUVEG67, FV40, Fruits-360, and Fresh Carrot.</a:t>
            </a:r>
            <a:endParaRPr>
              <a:latin typeface="Merriweather"/>
              <a:ea typeface="Merriweather"/>
              <a:cs typeface="Merriweather"/>
              <a:sym typeface="Merriweather"/>
            </a:endParaRPr>
          </a:p>
          <a:p>
            <a:pPr marL="342900" marR="0" lvl="0" indent="-228600" algn="l" rtl="0">
              <a:lnSpc>
                <a:spcPct val="100000"/>
              </a:lnSpc>
              <a:spcBef>
                <a:spcPts val="0"/>
              </a:spcBef>
              <a:spcAft>
                <a:spcPts val="0"/>
              </a:spcAft>
              <a:buClr>
                <a:srgbClr val="000000"/>
              </a:buClr>
              <a:buSzPts val="1800"/>
              <a:buFont typeface="Arial"/>
              <a:buNone/>
            </a:pPr>
            <a:endParaRPr i="0" u="none" strike="noStrike" cap="none">
              <a:solidFill>
                <a:srgbClr val="000000"/>
              </a:solidFill>
              <a:latin typeface="Merriweather"/>
              <a:ea typeface="Merriweather"/>
              <a:cs typeface="Merriweather"/>
              <a:sym typeface="Merriweather"/>
            </a:endParaRPr>
          </a:p>
          <a:p>
            <a:pPr marL="342900" marR="0" lvl="0" indent="-317500" algn="l" rtl="0">
              <a:lnSpc>
                <a:spcPct val="100000"/>
              </a:lnSpc>
              <a:spcBef>
                <a:spcPts val="0"/>
              </a:spcBef>
              <a:spcAft>
                <a:spcPts val="0"/>
              </a:spcAft>
              <a:buClr>
                <a:srgbClr val="000000"/>
              </a:buClr>
              <a:buSzPts val="1400"/>
            </a:pPr>
            <a:r>
              <a:rPr lang="en-US" i="0" u="none" strike="noStrike" cap="none" dirty="0">
                <a:solidFill>
                  <a:srgbClr val="000000"/>
                </a:solidFill>
                <a:latin typeface="Merriweather"/>
                <a:ea typeface="Merriweather"/>
                <a:cs typeface="Merriweather"/>
                <a:sym typeface="Merriweather"/>
              </a:rPr>
              <a:t>2.     Models include </a:t>
            </a:r>
            <a:r>
              <a:rPr lang="en-US" b="1" i="0" u="none" strike="noStrike" cap="none" dirty="0">
                <a:solidFill>
                  <a:srgbClr val="000000"/>
                </a:solidFill>
                <a:latin typeface="Merriweather"/>
                <a:ea typeface="Merriweather"/>
                <a:cs typeface="Merriweather"/>
                <a:sym typeface="Merriweather"/>
              </a:rPr>
              <a:t>YOLO, DETR, MobileNetV2, CL-</a:t>
            </a:r>
            <a:r>
              <a:rPr lang="en-US" b="1" i="0" u="none" strike="noStrike" cap="none" dirty="0" err="1">
                <a:solidFill>
                  <a:srgbClr val="000000"/>
                </a:solidFill>
                <a:latin typeface="Merriweather"/>
                <a:ea typeface="Merriweather"/>
                <a:cs typeface="Merriweather"/>
                <a:sym typeface="Merriweather"/>
              </a:rPr>
              <a:t>ViT</a:t>
            </a:r>
            <a:r>
              <a:rPr lang="en-US" b="1" i="0" u="none" strike="noStrike" cap="none" dirty="0">
                <a:solidFill>
                  <a:srgbClr val="000000"/>
                </a:solidFill>
                <a:latin typeface="Merriweather"/>
                <a:ea typeface="Merriweather"/>
                <a:cs typeface="Merriweather"/>
                <a:sym typeface="Merriweather"/>
              </a:rPr>
              <a:t>, and SSL frameworks</a:t>
            </a:r>
            <a:r>
              <a:rPr lang="en-US" i="0" u="none" strike="noStrike" cap="none" dirty="0">
                <a:solidFill>
                  <a:srgbClr val="000000"/>
                </a:solidFill>
                <a:latin typeface="Merriweather"/>
                <a:ea typeface="Merriweather"/>
                <a:cs typeface="Merriweather"/>
                <a:sym typeface="Merriweather"/>
              </a:rPr>
              <a:t>, improving detection with minimal labeled data.</a:t>
            </a:r>
            <a:endParaRPr>
              <a:latin typeface="Merriweather"/>
              <a:ea typeface="Merriweather"/>
              <a:cs typeface="Merriweather"/>
              <a:sym typeface="Merriweather"/>
            </a:endParaRPr>
          </a:p>
          <a:p>
            <a:pPr marL="342900" marR="0" lvl="0" indent="-228600" algn="l" rtl="0">
              <a:lnSpc>
                <a:spcPct val="100000"/>
              </a:lnSpc>
              <a:spcBef>
                <a:spcPts val="0"/>
              </a:spcBef>
              <a:spcAft>
                <a:spcPts val="0"/>
              </a:spcAft>
              <a:buClr>
                <a:srgbClr val="000000"/>
              </a:buClr>
              <a:buSzPts val="1800"/>
              <a:buFont typeface="Arial"/>
              <a:buNone/>
            </a:pPr>
            <a:endParaRPr i="0" u="none" strike="noStrike" cap="none">
              <a:solidFill>
                <a:srgbClr val="000000"/>
              </a:solidFill>
              <a:latin typeface="Merriweather"/>
              <a:ea typeface="Merriweather"/>
              <a:cs typeface="Merriweather"/>
              <a:sym typeface="Merriweather"/>
            </a:endParaRPr>
          </a:p>
          <a:p>
            <a:pPr marL="342900" marR="0" lvl="0" indent="-317500" algn="l" rtl="0">
              <a:lnSpc>
                <a:spcPct val="100000"/>
              </a:lnSpc>
              <a:spcBef>
                <a:spcPts val="0"/>
              </a:spcBef>
              <a:spcAft>
                <a:spcPts val="0"/>
              </a:spcAft>
              <a:buClr>
                <a:srgbClr val="000000"/>
              </a:buClr>
              <a:buSzPts val="1400"/>
            </a:pPr>
            <a:r>
              <a:rPr lang="en-US" i="0" u="none" strike="noStrike" cap="none" dirty="0">
                <a:solidFill>
                  <a:srgbClr val="000000"/>
                </a:solidFill>
                <a:latin typeface="Merriweather"/>
                <a:ea typeface="Merriweather"/>
                <a:cs typeface="Merriweather"/>
                <a:sym typeface="Merriweather"/>
              </a:rPr>
              <a:t>3.    Common challenges addressed: small/occluded objects, class imbalance, subtle defects, and real-time efficiency, showing that efficient models with robust datasets enable scalable agricultural monitoring.</a:t>
            </a:r>
            <a:endParaRPr>
              <a:latin typeface="Merriweather"/>
              <a:ea typeface="Merriweather"/>
              <a:cs typeface="Merriweather"/>
              <a:sym typeface="Merriweather"/>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20" name="Google Shape;220;p48"/>
          <p:cNvGraphicFramePr/>
          <p:nvPr/>
        </p:nvGraphicFramePr>
        <p:xfrm>
          <a:off x="123300" y="279000"/>
          <a:ext cx="8755850" cy="4864500"/>
        </p:xfrm>
        <a:graphic>
          <a:graphicData uri="http://schemas.openxmlformats.org/drawingml/2006/table">
            <a:tbl>
              <a:tblPr>
                <a:noFill/>
                <a:tableStyleId>{B3745F00-3E2A-4D54-8D2C-54AC2756F4C4}</a:tableStyleId>
              </a:tblPr>
              <a:tblGrid>
                <a:gridCol w="1054050">
                  <a:extLst>
                    <a:ext uri="{9D8B030D-6E8A-4147-A177-3AD203B41FA5}">
                      <a16:colId xmlns:a16="http://schemas.microsoft.com/office/drawing/2014/main" val="20000"/>
                    </a:ext>
                  </a:extLst>
                </a:gridCol>
                <a:gridCol w="1232825">
                  <a:extLst>
                    <a:ext uri="{9D8B030D-6E8A-4147-A177-3AD203B41FA5}">
                      <a16:colId xmlns:a16="http://schemas.microsoft.com/office/drawing/2014/main" val="20001"/>
                    </a:ext>
                  </a:extLst>
                </a:gridCol>
                <a:gridCol w="3727250">
                  <a:extLst>
                    <a:ext uri="{9D8B030D-6E8A-4147-A177-3AD203B41FA5}">
                      <a16:colId xmlns:a16="http://schemas.microsoft.com/office/drawing/2014/main" val="20002"/>
                    </a:ext>
                  </a:extLst>
                </a:gridCol>
                <a:gridCol w="1423225">
                  <a:extLst>
                    <a:ext uri="{9D8B030D-6E8A-4147-A177-3AD203B41FA5}">
                      <a16:colId xmlns:a16="http://schemas.microsoft.com/office/drawing/2014/main" val="20003"/>
                    </a:ext>
                  </a:extLst>
                </a:gridCol>
                <a:gridCol w="1318500">
                  <a:extLst>
                    <a:ext uri="{9D8B030D-6E8A-4147-A177-3AD203B41FA5}">
                      <a16:colId xmlns:a16="http://schemas.microsoft.com/office/drawing/2014/main" val="20004"/>
                    </a:ext>
                  </a:extLst>
                </a:gridCol>
              </a:tblGrid>
              <a:tr h="791750">
                <a:tc>
                  <a:txBody>
                    <a:bodyPr/>
                    <a:lstStyle/>
                    <a:p>
                      <a:pPr marL="0" lvl="0" indent="0" algn="l" rtl="0">
                        <a:spcBef>
                          <a:spcPts val="0"/>
                        </a:spcBef>
                        <a:spcAft>
                          <a:spcPts val="0"/>
                        </a:spcAft>
                        <a:buNone/>
                      </a:pPr>
                      <a:r>
                        <a:rPr lang="en-US" sz="1500" b="1">
                          <a:latin typeface="Merriweather"/>
                          <a:ea typeface="Merriweather"/>
                          <a:cs typeface="Merriweather"/>
                          <a:sym typeface="Merriweather"/>
                        </a:rPr>
                        <a:t>Citation No</a:t>
                      </a:r>
                      <a:endParaRPr sz="1500" b="1">
                        <a:latin typeface="Merriweather"/>
                        <a:ea typeface="Merriweather"/>
                        <a:cs typeface="Merriweather"/>
                        <a:sym typeface="Merriweather"/>
                      </a:endParaRPr>
                    </a:p>
                  </a:txBody>
                  <a:tcPr marL="91425" marR="91425" marT="91425" marB="91425"/>
                </a:tc>
                <a:tc>
                  <a:txBody>
                    <a:bodyPr/>
                    <a:lstStyle/>
                    <a:p>
                      <a:pPr marL="0" lvl="0" indent="0" algn="l" rtl="0">
                        <a:spcBef>
                          <a:spcPts val="0"/>
                        </a:spcBef>
                        <a:spcAft>
                          <a:spcPts val="0"/>
                        </a:spcAft>
                        <a:buNone/>
                      </a:pPr>
                      <a:r>
                        <a:rPr lang="en-US" sz="1500" b="1">
                          <a:latin typeface="Merriweather"/>
                          <a:ea typeface="Merriweather"/>
                          <a:cs typeface="Merriweather"/>
                          <a:sym typeface="Merriweather"/>
                        </a:rPr>
                        <a:t>Author Name</a:t>
                      </a:r>
                      <a:endParaRPr sz="1500" b="1">
                        <a:latin typeface="Merriweather"/>
                        <a:ea typeface="Merriweather"/>
                        <a:cs typeface="Merriweather"/>
                        <a:sym typeface="Merriweather"/>
                      </a:endParaRPr>
                    </a:p>
                  </a:txBody>
                  <a:tcPr marL="91425" marR="91425" marT="91425" marB="91425"/>
                </a:tc>
                <a:tc>
                  <a:txBody>
                    <a:bodyPr/>
                    <a:lstStyle/>
                    <a:p>
                      <a:pPr marL="0" lvl="0" indent="0" algn="l" rtl="0">
                        <a:spcBef>
                          <a:spcPts val="0"/>
                        </a:spcBef>
                        <a:spcAft>
                          <a:spcPts val="0"/>
                        </a:spcAft>
                        <a:buNone/>
                      </a:pPr>
                      <a:r>
                        <a:rPr lang="en-US" sz="1500" b="1">
                          <a:latin typeface="Merriweather"/>
                          <a:ea typeface="Merriweather"/>
                          <a:cs typeface="Merriweather"/>
                          <a:sym typeface="Merriweather"/>
                        </a:rPr>
                        <a:t>                              Title</a:t>
                      </a:r>
                      <a:endParaRPr sz="1500" b="1">
                        <a:latin typeface="Merriweather"/>
                        <a:ea typeface="Merriweather"/>
                        <a:cs typeface="Merriweather"/>
                        <a:sym typeface="Merriweather"/>
                      </a:endParaRPr>
                    </a:p>
                  </a:txBody>
                  <a:tcPr marL="91425" marR="91425" marT="91425" marB="91425"/>
                </a:tc>
                <a:tc>
                  <a:txBody>
                    <a:bodyPr/>
                    <a:lstStyle/>
                    <a:p>
                      <a:pPr marL="0" lvl="0" indent="0" algn="l" rtl="0">
                        <a:spcBef>
                          <a:spcPts val="0"/>
                        </a:spcBef>
                        <a:spcAft>
                          <a:spcPts val="0"/>
                        </a:spcAft>
                        <a:buNone/>
                      </a:pPr>
                      <a:r>
                        <a:rPr lang="en-US" sz="1500" b="1">
                          <a:latin typeface="Merriweather"/>
                          <a:ea typeface="Merriweather"/>
                          <a:cs typeface="Merriweather"/>
                          <a:sym typeface="Merriweather"/>
                        </a:rPr>
                        <a:t>Best Model</a:t>
                      </a:r>
                      <a:endParaRPr sz="1500" b="1">
                        <a:latin typeface="Merriweather"/>
                        <a:ea typeface="Merriweather"/>
                        <a:cs typeface="Merriweather"/>
                        <a:sym typeface="Merriweather"/>
                      </a:endParaRPr>
                    </a:p>
                  </a:txBody>
                  <a:tcPr marL="91425" marR="91425" marT="91425" marB="91425"/>
                </a:tc>
                <a:tc>
                  <a:txBody>
                    <a:bodyPr/>
                    <a:lstStyle/>
                    <a:p>
                      <a:pPr marL="0" lvl="0" indent="0" algn="l" rtl="0">
                        <a:spcBef>
                          <a:spcPts val="0"/>
                        </a:spcBef>
                        <a:spcAft>
                          <a:spcPts val="0"/>
                        </a:spcAft>
                        <a:buNone/>
                      </a:pPr>
                      <a:r>
                        <a:rPr lang="en-US" sz="1500" b="1">
                          <a:latin typeface="Merriweather"/>
                          <a:ea typeface="Merriweather"/>
                          <a:cs typeface="Merriweather"/>
                          <a:sym typeface="Merriweather"/>
                        </a:rPr>
                        <a:t>Accuracy</a:t>
                      </a:r>
                      <a:endParaRPr sz="1500" b="1">
                        <a:latin typeface="Merriweather"/>
                        <a:ea typeface="Merriweather"/>
                        <a:cs typeface="Merriweather"/>
                        <a:sym typeface="Merriweather"/>
                      </a:endParaRPr>
                    </a:p>
                  </a:txBody>
                  <a:tcPr marL="91425" marR="91425" marT="91425" marB="91425"/>
                </a:tc>
                <a:extLst>
                  <a:ext uri="{0D108BD9-81ED-4DB2-BD59-A6C34878D82A}">
                    <a16:rowId xmlns:a16="http://schemas.microsoft.com/office/drawing/2014/main" val="10000"/>
                  </a:ext>
                </a:extLst>
              </a:tr>
              <a:tr h="814550">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[12]</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just" rtl="0">
                        <a:lnSpc>
                          <a:spcPct val="115000"/>
                        </a:lnSpc>
                        <a:spcBef>
                          <a:spcPts val="0"/>
                        </a:spcBef>
                        <a:spcAft>
                          <a:spcPts val="0"/>
                        </a:spcAft>
                        <a:buNone/>
                      </a:pPr>
                      <a:r>
                        <a:rPr lang="en-US" sz="1200">
                          <a:latin typeface="Merriweather Light"/>
                          <a:ea typeface="Merriweather Light"/>
                          <a:cs typeface="Merriweather Light"/>
                          <a:sym typeface="Merriweather Light"/>
                        </a:rPr>
                        <a:t> Khanna et al</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Enhancing Fruit and Vegetable Detection in Unconstrained Environment with a Novel Dataset</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FVDNet (YOLOv8n)</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b="1">
                          <a:latin typeface="Merriweather"/>
                          <a:ea typeface="Merriweather"/>
                          <a:cs typeface="Merriweather"/>
                          <a:sym typeface="Merriweather"/>
                        </a:rPr>
                        <a:t>0.82 mAP</a:t>
                      </a:r>
                      <a:endParaRPr sz="1200" b="1">
                        <a:latin typeface="Merriweather"/>
                        <a:ea typeface="Merriweather"/>
                        <a:cs typeface="Merriweather"/>
                        <a:sym typeface="Merriweather"/>
                      </a:endParaRPr>
                    </a:p>
                  </a:txBody>
                  <a:tcPr marL="91425" marR="91425" marT="91425" marB="91425"/>
                </a:tc>
                <a:extLst>
                  <a:ext uri="{0D108BD9-81ED-4DB2-BD59-A6C34878D82A}">
                    <a16:rowId xmlns:a16="http://schemas.microsoft.com/office/drawing/2014/main" val="10001"/>
                  </a:ext>
                </a:extLst>
              </a:tr>
              <a:tr h="814550">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[13]</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just" rtl="0">
                        <a:lnSpc>
                          <a:spcPct val="115000"/>
                        </a:lnSpc>
                        <a:spcBef>
                          <a:spcPts val="0"/>
                        </a:spcBef>
                        <a:spcAft>
                          <a:spcPts val="0"/>
                        </a:spcAft>
                        <a:buNone/>
                      </a:pPr>
                      <a:r>
                        <a:rPr lang="en-US" sz="1200">
                          <a:solidFill>
                            <a:schemeClr val="dk1"/>
                          </a:solidFill>
                          <a:latin typeface="Merriweather"/>
                          <a:ea typeface="Merriweather"/>
                          <a:cs typeface="Merriweather"/>
                          <a:sym typeface="Merriweather"/>
                        </a:rPr>
                        <a:t>Li and Shi et al</a:t>
                      </a:r>
                      <a:endParaRPr sz="1200">
                        <a:solidFill>
                          <a:schemeClr val="dk1"/>
                        </a:solidFill>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A DETR-like Detector-Based Semi-Supervised Object Detection Method for Brassica Chinensis Growth Monitoring</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DETR-like SSOD</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b="1">
                          <a:latin typeface="Merriweather"/>
                          <a:ea typeface="Merriweather"/>
                          <a:cs typeface="Merriweather"/>
                          <a:sym typeface="Merriweather"/>
                        </a:rPr>
                        <a:t>0.741 mAP</a:t>
                      </a:r>
                      <a:endParaRPr sz="1200" b="1">
                        <a:latin typeface="Merriweather"/>
                        <a:ea typeface="Merriweather"/>
                        <a:cs typeface="Merriweather"/>
                        <a:sym typeface="Merriweather"/>
                      </a:endParaRPr>
                    </a:p>
                  </a:txBody>
                  <a:tcPr marL="91425" marR="91425" marT="91425" marB="91425"/>
                </a:tc>
                <a:extLst>
                  <a:ext uri="{0D108BD9-81ED-4DB2-BD59-A6C34878D82A}">
                    <a16:rowId xmlns:a16="http://schemas.microsoft.com/office/drawing/2014/main" val="10002"/>
                  </a:ext>
                </a:extLst>
              </a:tr>
              <a:tr h="814550">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[14]</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just" rtl="0">
                        <a:lnSpc>
                          <a:spcPct val="115000"/>
                        </a:lnSpc>
                        <a:spcBef>
                          <a:spcPts val="0"/>
                        </a:spcBef>
                        <a:spcAft>
                          <a:spcPts val="0"/>
                        </a:spcAft>
                        <a:buNone/>
                      </a:pPr>
                      <a:r>
                        <a:rPr lang="en-US" sz="1200">
                          <a:solidFill>
                            <a:schemeClr val="dk1"/>
                          </a:solidFill>
                          <a:latin typeface="Merriweather"/>
                          <a:ea typeface="Merriweather"/>
                          <a:cs typeface="Merriweather"/>
                          <a:sym typeface="Merriweather"/>
                        </a:rPr>
                        <a:t>Bu et al. </a:t>
                      </a:r>
                      <a:endParaRPr sz="1200">
                        <a:solidFill>
                          <a:schemeClr val="dk1"/>
                        </a:solidFill>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Fast and Accurate Detection of Forty Types of Fruits and Vegetables: Dataset and Method</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FVRT-DETR-L</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b="1">
                          <a:latin typeface="Merriweather"/>
                          <a:ea typeface="Merriweather"/>
                          <a:cs typeface="Merriweather"/>
                          <a:sym typeface="Merriweather"/>
                        </a:rPr>
                        <a:t>0.805 mAP</a:t>
                      </a:r>
                      <a:endParaRPr sz="1200" b="1">
                        <a:latin typeface="Merriweather"/>
                        <a:ea typeface="Merriweather"/>
                        <a:cs typeface="Merriweather"/>
                        <a:sym typeface="Merriweather"/>
                      </a:endParaRPr>
                    </a:p>
                  </a:txBody>
                  <a:tcPr marL="91425" marR="91425" marT="91425" marB="91425"/>
                </a:tc>
                <a:extLst>
                  <a:ext uri="{0D108BD9-81ED-4DB2-BD59-A6C34878D82A}">
                    <a16:rowId xmlns:a16="http://schemas.microsoft.com/office/drawing/2014/main" val="10003"/>
                  </a:ext>
                </a:extLst>
              </a:tr>
              <a:tr h="814550">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[15]</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just" rtl="0">
                        <a:lnSpc>
                          <a:spcPct val="115000"/>
                        </a:lnSpc>
                        <a:spcBef>
                          <a:spcPts val="1200"/>
                        </a:spcBef>
                        <a:spcAft>
                          <a:spcPts val="1200"/>
                        </a:spcAft>
                        <a:buNone/>
                      </a:pPr>
                      <a:r>
                        <a:rPr lang="en-US" sz="1200">
                          <a:solidFill>
                            <a:schemeClr val="dk1"/>
                          </a:solidFill>
                          <a:highlight>
                            <a:srgbClr val="FFFFFF"/>
                          </a:highlight>
                          <a:latin typeface="Merriweather"/>
                          <a:ea typeface="Merriweather"/>
                          <a:cs typeface="Merriweather"/>
                          <a:sym typeface="Merriweather"/>
                        </a:rPr>
                        <a:t>Rezeliet et al </a:t>
                      </a:r>
                      <a:endParaRPr sz="1200">
                        <a:solidFill>
                          <a:schemeClr val="dk1"/>
                        </a:solidFill>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Semi-Supervised Deep Learning and Low-Cost Cameras for the Detection of Grapevine Leaf Diseases</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U-Net semi-supervised</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b="1">
                          <a:latin typeface="Merriweather"/>
                          <a:ea typeface="Merriweather"/>
                          <a:cs typeface="Merriweather"/>
                          <a:sym typeface="Merriweather"/>
                        </a:rPr>
                        <a:t>0.92 Dice</a:t>
                      </a:r>
                      <a:endParaRPr sz="1200" b="1">
                        <a:latin typeface="Merriweather"/>
                        <a:ea typeface="Merriweather"/>
                        <a:cs typeface="Merriweather"/>
                        <a:sym typeface="Merriweather"/>
                      </a:endParaRPr>
                    </a:p>
                  </a:txBody>
                  <a:tcPr marL="91425" marR="91425" marT="91425" marB="91425"/>
                </a:tc>
                <a:extLst>
                  <a:ext uri="{0D108BD9-81ED-4DB2-BD59-A6C34878D82A}">
                    <a16:rowId xmlns:a16="http://schemas.microsoft.com/office/drawing/2014/main" val="10004"/>
                  </a:ext>
                </a:extLst>
              </a:tr>
              <a:tr h="814550">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[16]</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spcBef>
                          <a:spcPts val="0"/>
                        </a:spcBef>
                        <a:spcAft>
                          <a:spcPts val="0"/>
                        </a:spcAft>
                        <a:buNone/>
                      </a:pPr>
                      <a:r>
                        <a:rPr lang="en-US" sz="1200">
                          <a:solidFill>
                            <a:schemeClr val="dk1"/>
                          </a:solidFill>
                          <a:highlight>
                            <a:srgbClr val="FFFFFF"/>
                          </a:highlight>
                          <a:latin typeface="Merriweather"/>
                          <a:ea typeface="Merriweather"/>
                          <a:cs typeface="Merriweather"/>
                          <a:sym typeface="Merriweather"/>
                        </a:rPr>
                        <a:t>Ahmed et al</a:t>
                      </a:r>
                      <a:endParaRPr sz="1200">
                        <a:solidFill>
                          <a:schemeClr val="dk1"/>
                        </a:solidFill>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Efficient Iterative Semi-Supervised Object Detection Training for Counting of Fruits and Vegetables</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a:latin typeface="Merriweather Light"/>
                          <a:ea typeface="Merriweather Light"/>
                          <a:cs typeface="Merriweather Light"/>
                          <a:sym typeface="Merriweather Light"/>
                        </a:rPr>
                        <a:t>EfficientDet D0</a:t>
                      </a:r>
                      <a:endParaRPr sz="1200">
                        <a:latin typeface="Merriweather Light"/>
                        <a:ea typeface="Merriweather Light"/>
                        <a:cs typeface="Merriweather Light"/>
                        <a:sym typeface="Merriweather Light"/>
                      </a:endParaRPr>
                    </a:p>
                  </a:txBody>
                  <a:tcPr marL="91425" marR="91425" marT="91425" marB="91425"/>
                </a:tc>
                <a:tc>
                  <a:txBody>
                    <a:bodyPr/>
                    <a:lstStyle/>
                    <a:p>
                      <a:pPr marL="0" lvl="0" indent="0" algn="l" rtl="0">
                        <a:lnSpc>
                          <a:spcPct val="115000"/>
                        </a:lnSpc>
                        <a:spcBef>
                          <a:spcPts val="0"/>
                        </a:spcBef>
                        <a:spcAft>
                          <a:spcPts val="0"/>
                        </a:spcAft>
                        <a:buNone/>
                      </a:pPr>
                      <a:r>
                        <a:rPr lang="en-US" sz="1200" b="1">
                          <a:latin typeface="Merriweather"/>
                          <a:ea typeface="Merriweather"/>
                          <a:cs typeface="Merriweather"/>
                          <a:sym typeface="Merriweather"/>
                        </a:rPr>
                        <a:t>83% counting</a:t>
                      </a:r>
                      <a:endParaRPr sz="1200" b="1">
                        <a:latin typeface="Merriweather"/>
                        <a:ea typeface="Merriweather"/>
                        <a:cs typeface="Merriweather"/>
                        <a:sym typeface="Merriweathe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9"/>
          <p:cNvSpPr txBox="1"/>
          <p:nvPr/>
        </p:nvSpPr>
        <p:spPr>
          <a:xfrm>
            <a:off x="210700"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r>
              <a:rPr lang="en-US" sz="2800">
                <a:solidFill>
                  <a:schemeClr val="lt1"/>
                </a:solidFill>
                <a:latin typeface="Merriweather"/>
                <a:ea typeface="Merriweather"/>
                <a:cs typeface="Merriweather"/>
                <a:sym typeface="Merriweather"/>
              </a:rPr>
              <a:t>Planned Methodology </a:t>
            </a:r>
            <a:endParaRPr/>
          </a:p>
        </p:txBody>
      </p:sp>
      <p:pic>
        <p:nvPicPr>
          <p:cNvPr id="226" name="Google Shape;226;p49" descr="Research, process, task, work, planning, consumer, methodology icon -  Download on Iconfinder"/>
          <p:cNvPicPr preferRelativeResize="0"/>
          <p:nvPr/>
        </p:nvPicPr>
        <p:blipFill rotWithShape="1">
          <a:blip r:embed="rId3">
            <a:alphaModFix/>
          </a:blip>
          <a:srcRect/>
          <a:stretch/>
        </p:blipFill>
        <p:spPr>
          <a:xfrm>
            <a:off x="7230847" y="70018"/>
            <a:ext cx="1118872" cy="1118872"/>
          </a:xfrm>
          <a:prstGeom prst="rect">
            <a:avLst/>
          </a:prstGeom>
          <a:noFill/>
          <a:ln>
            <a:noFill/>
          </a:ln>
        </p:spPr>
      </p:pic>
      <p:pic>
        <p:nvPicPr>
          <p:cNvPr id="227" name="Google Shape;227;p49"/>
          <p:cNvPicPr preferRelativeResize="0"/>
          <p:nvPr/>
        </p:nvPicPr>
        <p:blipFill rotWithShape="1">
          <a:blip r:embed="rId4">
            <a:alphaModFix/>
          </a:blip>
          <a:srcRect/>
          <a:stretch/>
        </p:blipFill>
        <p:spPr>
          <a:xfrm>
            <a:off x="1505700" y="1356262"/>
            <a:ext cx="5715208" cy="3490087"/>
          </a:xfrm>
          <a:prstGeom prst="rect">
            <a:avLst/>
          </a:prstGeom>
          <a:noFill/>
          <a:ln>
            <a:noFill/>
          </a:ln>
        </p:spPr>
      </p:pic>
      <p:sp>
        <p:nvSpPr>
          <p:cNvPr id="228" name="Google Shape;228;p49"/>
          <p:cNvSpPr txBox="1"/>
          <p:nvPr/>
        </p:nvSpPr>
        <p:spPr>
          <a:xfrm>
            <a:off x="1407809" y="4636476"/>
            <a:ext cx="5426100" cy="733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0"/>
              </a:spcAft>
              <a:buNone/>
            </a:pPr>
            <a:r>
              <a:rPr lang="en-US" sz="1100" b="1" dirty="0">
                <a:latin typeface="Times New Roman"/>
                <a:ea typeface="Times New Roman"/>
                <a:cs typeface="Times New Roman"/>
                <a:sym typeface="Times New Roman"/>
              </a:rPr>
              <a:t>Figure : Workflow Diagram</a:t>
            </a:r>
            <a:endParaRPr sz="1100" b="1" dirty="0">
              <a:latin typeface="Times New Roman"/>
              <a:ea typeface="Times New Roman"/>
              <a:cs typeface="Times New Roman"/>
              <a:sym typeface="Times New Roman"/>
            </a:endParaRPr>
          </a:p>
          <a:p>
            <a:pPr marL="0" lvl="0" indent="0" algn="l" rtl="0">
              <a:spcBef>
                <a:spcPts val="1200"/>
              </a:spcBef>
              <a:spcAft>
                <a:spcPts val="0"/>
              </a:spcAft>
              <a:buNone/>
            </a:pPr>
            <a:endParaRPr sz="1300" dirty="0">
              <a:solidFill>
                <a:schemeClr val="dk2"/>
              </a:solidFill>
              <a:latin typeface="Roboto"/>
              <a:ea typeface="Roboto"/>
              <a:cs typeface="Roboto"/>
              <a:sym typeface="Roboto"/>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50"/>
          <p:cNvSpPr txBox="1"/>
          <p:nvPr/>
        </p:nvSpPr>
        <p:spPr>
          <a:xfrm>
            <a:off x="210700"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Clr>
                <a:schemeClr val="lt1"/>
              </a:buClr>
              <a:buSzPts val="2800"/>
              <a:buFont typeface="Arial"/>
              <a:buNone/>
            </a:pPr>
            <a:r>
              <a:rPr lang="en-US" sz="2800">
                <a:solidFill>
                  <a:schemeClr val="lt1"/>
                </a:solidFill>
                <a:latin typeface="Merriweather"/>
                <a:ea typeface="Merriweather"/>
                <a:cs typeface="Merriweather"/>
                <a:sym typeface="Merriweather"/>
              </a:rPr>
              <a:t>Dataset Collection SetUp</a:t>
            </a:r>
            <a:endParaRPr/>
          </a:p>
        </p:txBody>
      </p:sp>
      <p:sp>
        <p:nvSpPr>
          <p:cNvPr id="234" name="Google Shape;234;p50"/>
          <p:cNvSpPr txBox="1"/>
          <p:nvPr/>
        </p:nvSpPr>
        <p:spPr>
          <a:xfrm>
            <a:off x="1689550" y="1634950"/>
            <a:ext cx="5759400" cy="2678100"/>
          </a:xfrm>
          <a:prstGeom prst="rect">
            <a:avLst/>
          </a:prstGeom>
          <a:noFill/>
          <a:ln>
            <a:noFill/>
          </a:ln>
        </p:spPr>
        <p:txBody>
          <a:bodyPr spcFirstLastPara="1" wrap="square" lIns="91425" tIns="45700" rIns="91425" bIns="45700" anchor="t" anchorCtr="0">
            <a:spAutoFit/>
          </a:bodyPr>
          <a:lstStyle/>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Diverse Mobile Capture:</a:t>
            </a:r>
            <a:r>
              <a:rPr lang="en-US" b="0" i="0" u="none" strike="noStrike" cap="none">
                <a:solidFill>
                  <a:srgbClr val="000000"/>
                </a:solidFill>
                <a:latin typeface="Merriweather"/>
                <a:ea typeface="Merriweather"/>
                <a:cs typeface="Merriweather"/>
                <a:sym typeface="Merriweather"/>
              </a:rPr>
              <a:t> Images taken using Pixel 9, Galaxy S23, Vivo Y22s, Galaxy A55, iPhone 15 Pro Max for varied imaging conditions.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Controlled Background:</a:t>
            </a:r>
            <a:r>
              <a:rPr lang="en-US" b="0" i="0" u="none" strike="noStrike" cap="none">
                <a:solidFill>
                  <a:srgbClr val="000000"/>
                </a:solidFill>
                <a:latin typeface="Merriweather"/>
                <a:ea typeface="Merriweather"/>
                <a:cs typeface="Merriweather"/>
                <a:sym typeface="Merriweather"/>
              </a:rPr>
              <a:t> White art paper to minimize noise and ensure consistent contrast.</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Spatial &amp; Visual Variability:</a:t>
            </a:r>
            <a:r>
              <a:rPr lang="en-US" b="0" i="0" u="none" strike="noStrike" cap="none">
                <a:solidFill>
                  <a:srgbClr val="000000"/>
                </a:solidFill>
                <a:latin typeface="Merriweather"/>
                <a:ea typeface="Merriweather"/>
                <a:cs typeface="Merriweather"/>
                <a:sym typeface="Merriweather"/>
              </a:rPr>
              <a:t> Vegetables posed sparsely and structured; captured in </a:t>
            </a:r>
            <a:r>
              <a:rPr lang="en-US" b="1" i="0" u="none" strike="noStrike" cap="none">
                <a:solidFill>
                  <a:srgbClr val="000000"/>
                </a:solidFill>
                <a:latin typeface="Merriweather"/>
                <a:ea typeface="Merriweather"/>
                <a:cs typeface="Merriweather"/>
                <a:sym typeface="Merriweather"/>
              </a:rPr>
              <a:t>fresh vs damaged</a:t>
            </a:r>
            <a:r>
              <a:rPr lang="en-US" b="0" i="0" u="none" strike="noStrike" cap="none">
                <a:solidFill>
                  <a:srgbClr val="000000"/>
                </a:solidFill>
                <a:latin typeface="Merriweather"/>
                <a:ea typeface="Merriweather"/>
                <a:cs typeface="Merriweather"/>
                <a:sym typeface="Merriweather"/>
              </a:rPr>
              <a:t> states.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Robust Dataset:</a:t>
            </a:r>
            <a:r>
              <a:rPr lang="en-US" b="0" i="0" u="none" strike="noStrike" cap="none">
                <a:solidFill>
                  <a:srgbClr val="000000"/>
                </a:solidFill>
                <a:latin typeface="Merriweather"/>
                <a:ea typeface="Merriweather"/>
                <a:cs typeface="Merriweather"/>
                <a:sym typeface="Merriweather"/>
              </a:rPr>
              <a:t> Setup ensures generalizability for multi-class classification and computer vision tasks.</a:t>
            </a:r>
            <a:endParaRPr/>
          </a:p>
        </p:txBody>
      </p:sp>
      <p:pic>
        <p:nvPicPr>
          <p:cNvPr id="235" name="Google Shape;235;p50" descr="Dataset - Free networking icons"/>
          <p:cNvPicPr preferRelativeResize="0"/>
          <p:nvPr/>
        </p:nvPicPr>
        <p:blipFill rotWithShape="1">
          <a:blip r:embed="rId3">
            <a:alphaModFix/>
          </a:blip>
          <a:srcRect/>
          <a:stretch/>
        </p:blipFill>
        <p:spPr>
          <a:xfrm>
            <a:off x="6983187" y="65315"/>
            <a:ext cx="1258474" cy="1258474"/>
          </a:xfrm>
          <a:prstGeom prst="rect">
            <a:avLst/>
          </a:prstGeom>
          <a:noFill/>
          <a:ln>
            <a:noFill/>
          </a:ln>
        </p:spPr>
      </p:pic>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1"/>
          <p:cNvSpPr txBox="1"/>
          <p:nvPr/>
        </p:nvSpPr>
        <p:spPr>
          <a:xfrm>
            <a:off x="210700"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r>
              <a:rPr lang="en-US" sz="2800">
                <a:solidFill>
                  <a:schemeClr val="lt1"/>
                </a:solidFill>
                <a:latin typeface="Merriweather"/>
                <a:ea typeface="Merriweather"/>
                <a:cs typeface="Merriweather"/>
                <a:sym typeface="Merriweather"/>
              </a:rPr>
              <a:t>Dataset Collection Strategy </a:t>
            </a:r>
            <a:endParaRPr/>
          </a:p>
        </p:txBody>
      </p:sp>
      <p:sp>
        <p:nvSpPr>
          <p:cNvPr id="241" name="Google Shape;241;p51"/>
          <p:cNvSpPr txBox="1"/>
          <p:nvPr/>
        </p:nvSpPr>
        <p:spPr>
          <a:xfrm>
            <a:off x="1240375" y="1624375"/>
            <a:ext cx="7109100" cy="3109200"/>
          </a:xfrm>
          <a:prstGeom prst="rect">
            <a:avLst/>
          </a:prstGeom>
          <a:noFill/>
          <a:ln>
            <a:noFill/>
          </a:ln>
        </p:spPr>
        <p:txBody>
          <a:bodyPr spcFirstLastPara="1" wrap="square" lIns="91425" tIns="45700" rIns="91425" bIns="45700" anchor="t" anchorCtr="0">
            <a:spAutoFit/>
          </a:bodyPr>
          <a:lstStyle/>
          <a:p>
            <a:pPr marL="285750" marR="0" lvl="0" indent="-2730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Vegetables Covered:</a:t>
            </a:r>
            <a:r>
              <a:rPr lang="en-US" b="0" i="0" u="none" strike="noStrike" cap="none">
                <a:solidFill>
                  <a:srgbClr val="000000"/>
                </a:solidFill>
                <a:latin typeface="Merriweather"/>
                <a:ea typeface="Merriweather"/>
                <a:cs typeface="Merriweather"/>
                <a:sym typeface="Merriweather"/>
              </a:rPr>
              <a:t> 8 types × 2 conditions (Fresh &amp; Damaged) → 16 sub-classes.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730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Single-Class Images:</a:t>
            </a:r>
            <a:r>
              <a:rPr lang="en-US" b="0" i="0" u="none" strike="noStrike" cap="none">
                <a:solidFill>
                  <a:srgbClr val="000000"/>
                </a:solidFill>
                <a:latin typeface="Merriweather"/>
                <a:ea typeface="Merriweather"/>
                <a:cs typeface="Merriweather"/>
                <a:sym typeface="Merriweather"/>
              </a:rPr>
              <a:t> 50 per </a:t>
            </a:r>
            <a:r>
              <a:rPr lang="en-US">
                <a:latin typeface="Merriweather"/>
                <a:ea typeface="Merriweather"/>
                <a:cs typeface="Merriweather"/>
                <a:sym typeface="Merriweather"/>
              </a:rPr>
              <a:t>subclass</a:t>
            </a:r>
            <a:r>
              <a:rPr lang="en-US" b="0" i="0" u="none" strike="noStrike" cap="none">
                <a:solidFill>
                  <a:srgbClr val="000000"/>
                </a:solidFill>
                <a:latin typeface="Merriweather"/>
                <a:ea typeface="Merriweather"/>
                <a:cs typeface="Merriweather"/>
                <a:sym typeface="Merriweather"/>
              </a:rPr>
              <a:t>; neutral background &amp; controlled lighting; one instance per image → 800 images.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730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Combinational Single-Class Images:</a:t>
            </a:r>
            <a:r>
              <a:rPr lang="en-US" b="0" i="0" u="none" strike="noStrike" cap="none">
                <a:solidFill>
                  <a:srgbClr val="000000"/>
                </a:solidFill>
                <a:latin typeface="Merriweather"/>
                <a:ea typeface="Merriweather"/>
                <a:cs typeface="Merriweather"/>
                <a:sym typeface="Merriweather"/>
              </a:rPr>
              <a:t> 210 per subclass (scattered &amp; </a:t>
            </a:r>
            <a:r>
              <a:rPr lang="en-US">
                <a:latin typeface="Merriweather"/>
                <a:ea typeface="Merriweather"/>
                <a:cs typeface="Merriweather"/>
                <a:sym typeface="Merriweather"/>
              </a:rPr>
              <a:t>organized</a:t>
            </a:r>
            <a:r>
              <a:rPr lang="en-US" b="0" i="0" u="none" strike="noStrike" cap="none">
                <a:solidFill>
                  <a:srgbClr val="000000"/>
                </a:solidFill>
                <a:latin typeface="Merriweather"/>
                <a:ea typeface="Merriweather"/>
                <a:cs typeface="Merriweather"/>
                <a:sym typeface="Merriweather"/>
              </a:rPr>
              <a:t> arrangements) to capture spatial variability.</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730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Multi-Class Subset:</a:t>
            </a:r>
            <a:r>
              <a:rPr lang="en-US" b="0" i="0" u="none" strike="noStrike" cap="none">
                <a:solidFill>
                  <a:srgbClr val="000000"/>
                </a:solidFill>
                <a:latin typeface="Merriweather"/>
                <a:ea typeface="Merriweather"/>
                <a:cs typeface="Merriweather"/>
                <a:sym typeface="Merriweather"/>
              </a:rPr>
              <a:t> 4 vegetable pairs; fresh &amp; damaged → 120 images per pair; dominance variation added for realism</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73050" algn="l" rtl="0">
              <a:lnSpc>
                <a:spcPct val="100000"/>
              </a:lnSpc>
              <a:spcBef>
                <a:spcPts val="0"/>
              </a:spcBef>
              <a:spcAft>
                <a:spcPts val="0"/>
              </a:spcAft>
              <a:buClr>
                <a:srgbClr val="000000"/>
              </a:buClr>
              <a:buSzPts val="1400"/>
              <a:buFont typeface="Noto Sans Symbols"/>
              <a:buChar char="▪"/>
            </a:pPr>
            <a:r>
              <a:rPr lang="en-US" b="1">
                <a:latin typeface="Merriweather"/>
                <a:ea typeface="Merriweather"/>
                <a:cs typeface="Merriweather"/>
                <a:sym typeface="Merriweather"/>
              </a:rPr>
              <a:t>Assumed </a:t>
            </a:r>
            <a:r>
              <a:rPr lang="en-US" b="1" i="0" u="none" strike="noStrike" cap="none">
                <a:solidFill>
                  <a:srgbClr val="000000"/>
                </a:solidFill>
                <a:latin typeface="Merriweather"/>
                <a:ea typeface="Merriweather"/>
                <a:cs typeface="Merriweather"/>
                <a:sym typeface="Merriweather"/>
              </a:rPr>
              <a:t>Total Dataset:</a:t>
            </a:r>
            <a:r>
              <a:rPr lang="en-US" b="0" i="0" u="none" strike="noStrike" cap="none">
                <a:solidFill>
                  <a:srgbClr val="000000"/>
                </a:solidFill>
                <a:latin typeface="Merriweather"/>
                <a:ea typeface="Merriweather"/>
                <a:cs typeface="Merriweather"/>
                <a:sym typeface="Merriweather"/>
              </a:rPr>
              <a:t> 4,640 images, perfectly balanced for robust multi-class classification and detection.</a:t>
            </a:r>
            <a:endParaRPr/>
          </a:p>
        </p:txBody>
      </p:sp>
      <p:pic>
        <p:nvPicPr>
          <p:cNvPr id="242" name="Google Shape;242;p51" descr="Dataset - Free seo and web icons"/>
          <p:cNvPicPr preferRelativeResize="0"/>
          <p:nvPr/>
        </p:nvPicPr>
        <p:blipFill rotWithShape="1">
          <a:blip r:embed="rId3">
            <a:alphaModFix/>
          </a:blip>
          <a:srcRect/>
          <a:stretch/>
        </p:blipFill>
        <p:spPr>
          <a:xfrm>
            <a:off x="7115318" y="79789"/>
            <a:ext cx="1140279" cy="1140279"/>
          </a:xfrm>
          <a:prstGeom prst="rect">
            <a:avLst/>
          </a:prstGeom>
          <a:noFill/>
          <a:ln>
            <a:noFill/>
          </a:ln>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52"/>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Clr>
                <a:schemeClr val="lt1"/>
              </a:buClr>
              <a:buSzPts val="2800"/>
              <a:buFont typeface="Arial"/>
              <a:buNone/>
            </a:pPr>
            <a:r>
              <a:rPr lang="en-US" sz="2800">
                <a:solidFill>
                  <a:schemeClr val="lt1"/>
                </a:solidFill>
                <a:latin typeface="Merriweather"/>
                <a:ea typeface="Merriweather"/>
                <a:cs typeface="Merriweather"/>
                <a:sym typeface="Merriweather"/>
              </a:rPr>
              <a:t>Dataset Overview &amp; Distribution</a:t>
            </a:r>
            <a:endParaRPr/>
          </a:p>
        </p:txBody>
      </p:sp>
      <p:pic>
        <p:nvPicPr>
          <p:cNvPr id="248" name="Google Shape;248;p52" descr="Research, process, task, work, planning, consumer, methodology icon -  Download on Iconfinder"/>
          <p:cNvPicPr preferRelativeResize="0"/>
          <p:nvPr/>
        </p:nvPicPr>
        <p:blipFill rotWithShape="1">
          <a:blip r:embed="rId3">
            <a:alphaModFix/>
          </a:blip>
          <a:srcRect/>
          <a:stretch/>
        </p:blipFill>
        <p:spPr>
          <a:xfrm>
            <a:off x="7230847" y="70018"/>
            <a:ext cx="1118872" cy="1118872"/>
          </a:xfrm>
          <a:prstGeom prst="rect">
            <a:avLst/>
          </a:prstGeom>
          <a:noFill/>
          <a:ln>
            <a:noFill/>
          </a:ln>
        </p:spPr>
      </p:pic>
      <p:sp>
        <p:nvSpPr>
          <p:cNvPr id="249" name="Google Shape;249;p52"/>
          <p:cNvSpPr txBox="1"/>
          <p:nvPr/>
        </p:nvSpPr>
        <p:spPr>
          <a:xfrm>
            <a:off x="1041975" y="1554050"/>
            <a:ext cx="6442500" cy="2893800"/>
          </a:xfrm>
          <a:prstGeom prst="rect">
            <a:avLst/>
          </a:prstGeom>
          <a:noFill/>
          <a:ln>
            <a:noFill/>
          </a:ln>
        </p:spPr>
        <p:txBody>
          <a:bodyPr spcFirstLastPara="1" wrap="square" lIns="91425" tIns="45700" rIns="91425" bIns="45700" anchor="t" anchorCtr="0">
            <a:spAutoFit/>
          </a:bodyPr>
          <a:lstStyle/>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Balanced Dataset for Classification &amp; Detection</a:t>
            </a:r>
            <a:r>
              <a:rPr lang="en-US" b="0" i="0" u="none" strike="noStrike" cap="none">
                <a:solidFill>
                  <a:srgbClr val="000000"/>
                </a:solidFill>
                <a:latin typeface="Merriweather"/>
                <a:ea typeface="Merriweather"/>
                <a:cs typeface="Merriweather"/>
                <a:sym typeface="Merriweather"/>
              </a:rPr>
              <a:t> → Single-class &amp; Multi-class images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Single-Class Images:</a:t>
            </a:r>
            <a:r>
              <a:rPr lang="en-US" b="0" i="0" u="none" strike="noStrike" cap="none">
                <a:solidFill>
                  <a:srgbClr val="000000"/>
                </a:solidFill>
                <a:latin typeface="Merriweather"/>
                <a:ea typeface="Merriweather"/>
                <a:cs typeface="Merriweather"/>
                <a:sym typeface="Merriweather"/>
              </a:rPr>
              <a:t> 8 vegetable types × 2 conditions (Fresh/Damaged) → 4,270 images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Multi-Class Images:</a:t>
            </a:r>
            <a:r>
              <a:rPr lang="en-US" b="0" i="0" u="none" strike="noStrike" cap="none">
                <a:solidFill>
                  <a:srgbClr val="000000"/>
                </a:solidFill>
                <a:latin typeface="Merriweather"/>
                <a:ea typeface="Merriweather"/>
                <a:cs typeface="Merriweather"/>
                <a:sym typeface="Merriweather"/>
              </a:rPr>
              <a:t> 4 vegetable pairs in quadrates → 531 images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Annotated Detection Split:</a:t>
            </a:r>
            <a:r>
              <a:rPr lang="en-US" b="0" i="0" u="none" strike="noStrike" cap="none">
                <a:solidFill>
                  <a:srgbClr val="000000"/>
                </a:solidFill>
                <a:latin typeface="Merriweather"/>
                <a:ea typeface="Merriweather"/>
                <a:cs typeface="Merriweather"/>
                <a:sym typeface="Merriweather"/>
              </a:rPr>
              <a:t> 70% Train | 15% Test | 15% Validation</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Histogram Analysis:</a:t>
            </a:r>
            <a:r>
              <a:rPr lang="en-US" b="0" i="0" u="none" strike="noStrike" cap="none">
                <a:solidFill>
                  <a:srgbClr val="000000"/>
                </a:solidFill>
                <a:latin typeface="Merriweather"/>
                <a:ea typeface="Merriweather"/>
                <a:cs typeface="Merriweather"/>
                <a:sym typeface="Merriweather"/>
              </a:rPr>
              <a:t> Shows well-balanced distribution across all classes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53"/>
          <p:cNvPicPr preferRelativeResize="0"/>
          <p:nvPr/>
        </p:nvPicPr>
        <p:blipFill rotWithShape="1">
          <a:blip r:embed="rId3">
            <a:alphaModFix/>
          </a:blip>
          <a:srcRect/>
          <a:stretch/>
        </p:blipFill>
        <p:spPr>
          <a:xfrm>
            <a:off x="1447275" y="74075"/>
            <a:ext cx="5674376" cy="4690599"/>
          </a:xfrm>
          <a:prstGeom prst="rect">
            <a:avLst/>
          </a:prstGeom>
          <a:noFill/>
          <a:ln>
            <a:noFill/>
          </a:ln>
        </p:spPr>
      </p:pic>
      <p:sp>
        <p:nvSpPr>
          <p:cNvPr id="255" name="Google Shape;255;p53"/>
          <p:cNvSpPr txBox="1"/>
          <p:nvPr/>
        </p:nvSpPr>
        <p:spPr>
          <a:xfrm>
            <a:off x="3109775" y="4690600"/>
            <a:ext cx="5426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b="1">
                <a:latin typeface="Merriweather"/>
                <a:ea typeface="Merriweather"/>
                <a:cs typeface="Merriweather"/>
                <a:sym typeface="Merriweather"/>
              </a:rPr>
              <a:t>Figure : Dataset Workflow</a:t>
            </a:r>
            <a:endParaRPr sz="1300" b="1">
              <a:latin typeface="Merriweather"/>
              <a:ea typeface="Merriweather"/>
              <a:cs typeface="Merriweather"/>
              <a:sym typeface="Merriweather"/>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54"/>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a:solidFill>
                  <a:schemeClr val="lt1"/>
                </a:solidFill>
                <a:latin typeface="Merriweather"/>
                <a:ea typeface="Merriweather"/>
                <a:cs typeface="Merriweather"/>
                <a:sym typeface="Merriweather"/>
              </a:rPr>
              <a:t>Dataset Overview &amp; Distribution</a:t>
            </a:r>
            <a:endParaRPr/>
          </a:p>
        </p:txBody>
      </p:sp>
      <p:pic>
        <p:nvPicPr>
          <p:cNvPr id="261" name="Google Shape;261;p54" descr="Research, process, task, work, planning, consumer, methodology icon -  Download on Iconfinder"/>
          <p:cNvPicPr preferRelativeResize="0"/>
          <p:nvPr/>
        </p:nvPicPr>
        <p:blipFill rotWithShape="1">
          <a:blip r:embed="rId3">
            <a:alphaModFix/>
          </a:blip>
          <a:srcRect/>
          <a:stretch/>
        </p:blipFill>
        <p:spPr>
          <a:xfrm>
            <a:off x="7230847" y="70018"/>
            <a:ext cx="1118872" cy="1118872"/>
          </a:xfrm>
          <a:prstGeom prst="rect">
            <a:avLst/>
          </a:prstGeom>
          <a:noFill/>
          <a:ln>
            <a:noFill/>
          </a:ln>
        </p:spPr>
      </p:pic>
      <p:graphicFrame>
        <p:nvGraphicFramePr>
          <p:cNvPr id="262" name="Google Shape;262;p54"/>
          <p:cNvGraphicFramePr/>
          <p:nvPr/>
        </p:nvGraphicFramePr>
        <p:xfrm>
          <a:off x="976113" y="1595120"/>
          <a:ext cx="7213800" cy="3548380"/>
        </p:xfrm>
        <a:graphic>
          <a:graphicData uri="http://schemas.openxmlformats.org/drawingml/2006/table">
            <a:tbl>
              <a:tblPr>
                <a:noFill/>
                <a:tableStyleId>{A2CC0FA7-014A-44FD-AD4A-AEC336675D45}</a:tableStyleId>
              </a:tblPr>
              <a:tblGrid>
                <a:gridCol w="1803450">
                  <a:extLst>
                    <a:ext uri="{9D8B030D-6E8A-4147-A177-3AD203B41FA5}">
                      <a16:colId xmlns:a16="http://schemas.microsoft.com/office/drawing/2014/main" val="20000"/>
                    </a:ext>
                  </a:extLst>
                </a:gridCol>
                <a:gridCol w="1803450">
                  <a:extLst>
                    <a:ext uri="{9D8B030D-6E8A-4147-A177-3AD203B41FA5}">
                      <a16:colId xmlns:a16="http://schemas.microsoft.com/office/drawing/2014/main" val="20001"/>
                    </a:ext>
                  </a:extLst>
                </a:gridCol>
                <a:gridCol w="1803450">
                  <a:extLst>
                    <a:ext uri="{9D8B030D-6E8A-4147-A177-3AD203B41FA5}">
                      <a16:colId xmlns:a16="http://schemas.microsoft.com/office/drawing/2014/main" val="20002"/>
                    </a:ext>
                  </a:extLst>
                </a:gridCol>
                <a:gridCol w="1803450">
                  <a:extLst>
                    <a:ext uri="{9D8B030D-6E8A-4147-A177-3AD203B41FA5}">
                      <a16:colId xmlns:a16="http://schemas.microsoft.com/office/drawing/2014/main" val="20003"/>
                    </a:ext>
                  </a:extLst>
                </a:gridCol>
              </a:tblGrid>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dirty="0">
                          <a:solidFill>
                            <a:schemeClr val="lt1"/>
                          </a:solidFill>
                          <a:highlight>
                            <a:schemeClr val="dk1"/>
                          </a:highlight>
                          <a:latin typeface="Merriweather"/>
                          <a:ea typeface="Merriweather"/>
                          <a:cs typeface="Merriweather"/>
                          <a:sym typeface="Merriweather"/>
                        </a:rPr>
                        <a:t>Class</a:t>
                      </a:r>
                      <a:endParaRPr sz="1300" b="1" u="none" strike="noStrike" cap="none">
                        <a:solidFill>
                          <a:schemeClr val="lt1"/>
                        </a:solidFill>
                        <a:highlight>
                          <a:schemeClr val="dk1"/>
                        </a:highlight>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solidFill>
                            <a:schemeClr val="lt1"/>
                          </a:solidFill>
                          <a:highlight>
                            <a:schemeClr val="dk1"/>
                          </a:highlight>
                          <a:latin typeface="Merriweather"/>
                          <a:ea typeface="Merriweather"/>
                          <a:cs typeface="Merriweather"/>
                          <a:sym typeface="Merriweather"/>
                        </a:rPr>
                        <a:t>Fresh</a:t>
                      </a:r>
                      <a:endParaRPr sz="1300" b="1" u="none" strike="noStrike" cap="none">
                        <a:solidFill>
                          <a:schemeClr val="lt1"/>
                        </a:solidFill>
                        <a:highlight>
                          <a:schemeClr val="dk1"/>
                        </a:highlight>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solidFill>
                            <a:schemeClr val="lt1"/>
                          </a:solidFill>
                          <a:highlight>
                            <a:schemeClr val="dk1"/>
                          </a:highlight>
                          <a:latin typeface="Merriweather"/>
                          <a:ea typeface="Merriweather"/>
                          <a:cs typeface="Merriweather"/>
                          <a:sym typeface="Merriweather"/>
                        </a:rPr>
                        <a:t>Damaged</a:t>
                      </a:r>
                      <a:endParaRPr sz="1300" b="1" u="none" strike="noStrike" cap="none">
                        <a:solidFill>
                          <a:schemeClr val="lt1"/>
                        </a:solidFill>
                        <a:highlight>
                          <a:schemeClr val="dk1"/>
                        </a:highlight>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solidFill>
                            <a:schemeClr val="lt1"/>
                          </a:solidFill>
                          <a:highlight>
                            <a:schemeClr val="dk1"/>
                          </a:highlight>
                          <a:latin typeface="Merriweather"/>
                          <a:ea typeface="Merriweather"/>
                          <a:cs typeface="Merriweather"/>
                          <a:sym typeface="Merriweather"/>
                        </a:rPr>
                        <a:t>Total</a:t>
                      </a:r>
                      <a:endParaRPr sz="1300" b="1" u="none" strike="noStrike" cap="none">
                        <a:solidFill>
                          <a:schemeClr val="lt1"/>
                        </a:solidFill>
                        <a:highlight>
                          <a:schemeClr val="dk1"/>
                        </a:highlight>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0"/>
                  </a:ext>
                </a:extLst>
              </a:tr>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Cucumber</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280</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270</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550</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1"/>
                  </a:ext>
                </a:extLst>
              </a:tr>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Tomato</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275</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260</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535</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2"/>
                  </a:ext>
                </a:extLst>
              </a:tr>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Bitter Gourd</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271</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251</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522</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3"/>
                  </a:ext>
                </a:extLst>
              </a:tr>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dirty="0">
                          <a:latin typeface="Merriweather"/>
                          <a:ea typeface="Merriweather"/>
                          <a:cs typeface="Merriweather"/>
                          <a:sym typeface="Merriweather"/>
                        </a:rPr>
                        <a:t>Pointed Gourd</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265</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272</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537</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4"/>
                  </a:ext>
                </a:extLst>
              </a:tr>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Potato</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275</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260</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535</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5"/>
                  </a:ext>
                </a:extLst>
              </a:tr>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Onion</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262</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268</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530</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6"/>
                  </a:ext>
                </a:extLst>
              </a:tr>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Eggplant</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262</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267</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529</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7"/>
                  </a:ext>
                </a:extLst>
              </a:tr>
              <a:tr h="320450">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Lemon</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271</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265</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536</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8"/>
                  </a:ext>
                </a:extLst>
              </a:tr>
              <a:tr h="325075">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Total</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 </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a:latin typeface="Merriweather"/>
                          <a:ea typeface="Merriweather"/>
                          <a:cs typeface="Merriweather"/>
                          <a:sym typeface="Merriweather"/>
                        </a:rPr>
                        <a:t> </a:t>
                      </a:r>
                      <a:endParaRPr sz="1300" b="1" u="none" strike="noStrike" cap="none">
                        <a:latin typeface="Merriweather"/>
                        <a:ea typeface="Merriweather"/>
                        <a:cs typeface="Merriweather"/>
                        <a:sym typeface="Merriweather"/>
                      </a:endParaRPr>
                    </a:p>
                  </a:txBody>
                  <a:tcPr marL="63500" marR="63500" marT="63500" marB="63500"/>
                </a:tc>
                <a:tc>
                  <a:txBody>
                    <a:bodyPr/>
                    <a:lstStyle/>
                    <a:p>
                      <a:pPr marL="0" marR="0" lvl="0" indent="0" algn="ctr" rtl="0">
                        <a:lnSpc>
                          <a:spcPct val="115000"/>
                        </a:lnSpc>
                        <a:spcBef>
                          <a:spcPts val="0"/>
                        </a:spcBef>
                        <a:spcAft>
                          <a:spcPts val="0"/>
                        </a:spcAft>
                        <a:buClr>
                          <a:srgbClr val="000000"/>
                        </a:buClr>
                        <a:buSzPts val="1600"/>
                        <a:buFont typeface="Arial"/>
                        <a:buNone/>
                      </a:pPr>
                      <a:r>
                        <a:rPr lang="en-US" sz="1300" b="1" u="none" strike="noStrike" cap="none" dirty="0">
                          <a:latin typeface="Merriweather"/>
                          <a:ea typeface="Merriweather"/>
                          <a:cs typeface="Merriweather"/>
                          <a:sym typeface="Merriweather"/>
                        </a:rPr>
                        <a:t>4270</a:t>
                      </a:r>
                      <a:endParaRPr sz="1300" b="1" u="none" strike="noStrike" cap="none">
                        <a:latin typeface="Merriweather"/>
                        <a:ea typeface="Merriweather"/>
                        <a:cs typeface="Merriweather"/>
                        <a:sym typeface="Merriweather"/>
                      </a:endParaRPr>
                    </a:p>
                  </a:txBody>
                  <a:tcPr marL="63500" marR="63500" marT="63500" marB="63500"/>
                </a:tc>
                <a:extLst>
                  <a:ext uri="{0D108BD9-81ED-4DB2-BD59-A6C34878D82A}">
                    <a16:rowId xmlns:a16="http://schemas.microsoft.com/office/drawing/2014/main" val="10009"/>
                  </a:ext>
                </a:extLst>
              </a:tr>
            </a:tbl>
          </a:graphicData>
        </a:graphic>
      </p:graphicFrame>
      <p:sp>
        <p:nvSpPr>
          <p:cNvPr id="263" name="Google Shape;263;p54"/>
          <p:cNvSpPr txBox="1">
            <a:spLocks noGrp="1"/>
          </p:cNvSpPr>
          <p:nvPr>
            <p:ph type="title"/>
          </p:nvPr>
        </p:nvSpPr>
        <p:spPr>
          <a:xfrm>
            <a:off x="1702925" y="1131135"/>
            <a:ext cx="9700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b="1">
                <a:solidFill>
                  <a:schemeClr val="dk1"/>
                </a:solidFill>
                <a:latin typeface="Merriweather"/>
                <a:ea typeface="Merriweather"/>
                <a:cs typeface="Merriweather"/>
                <a:sym typeface="Merriweather"/>
              </a:rPr>
              <a:t> </a:t>
            </a:r>
            <a:r>
              <a:rPr lang="en-US" sz="1600" b="1">
                <a:solidFill>
                  <a:schemeClr val="dk1"/>
                </a:solidFill>
                <a:latin typeface="Merriweather"/>
                <a:ea typeface="Merriweather"/>
                <a:cs typeface="Merriweather"/>
                <a:sym typeface="Merriweather"/>
              </a:rPr>
              <a:t>Dataset distribution </a:t>
            </a:r>
            <a:r>
              <a:rPr lang="en-US" sz="1600" b="1">
                <a:solidFill>
                  <a:schemeClr val="dk1"/>
                </a:solidFill>
              </a:rPr>
              <a:t>table</a:t>
            </a:r>
            <a:r>
              <a:rPr lang="en-US" sz="1600" b="1">
                <a:solidFill>
                  <a:schemeClr val="dk1"/>
                </a:solidFill>
                <a:latin typeface="Merriweather"/>
                <a:ea typeface="Merriweather"/>
                <a:cs typeface="Merriweather"/>
                <a:sym typeface="Merriweather"/>
              </a:rPr>
              <a:t> for Single Class images</a:t>
            </a:r>
            <a:br>
              <a:rPr lang="en-US" sz="2400">
                <a:solidFill>
                  <a:schemeClr val="dk1"/>
                </a:solidFill>
                <a:latin typeface="Merriweather"/>
                <a:ea typeface="Merriweather"/>
                <a:cs typeface="Merriweather"/>
                <a:sym typeface="Merriweather"/>
              </a:rPr>
            </a:br>
            <a:endParaRPr sz="2400">
              <a:latin typeface="Merriweather"/>
              <a:ea typeface="Merriweather"/>
              <a:cs typeface="Merriweather"/>
              <a:sym typeface="Merriweather"/>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55"/>
          <p:cNvSpPr txBox="1">
            <a:spLocks noGrp="1"/>
          </p:cNvSpPr>
          <p:nvPr>
            <p:ph type="title"/>
          </p:nvPr>
        </p:nvSpPr>
        <p:spPr>
          <a:xfrm>
            <a:off x="0" y="0"/>
            <a:ext cx="9144000" cy="1083600"/>
          </a:xfrm>
          <a:prstGeom prst="rect">
            <a:avLst/>
          </a:prstGeom>
          <a:solidFill>
            <a:schemeClr val="dk1"/>
          </a:solid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111"/>
              <a:buNone/>
            </a:pPr>
            <a:r>
              <a:rPr lang="en-US" b="1">
                <a:solidFill>
                  <a:schemeClr val="lt1"/>
                </a:solidFill>
              </a:rPr>
              <a:t>Histogram of the Dataset Distribution</a:t>
            </a:r>
            <a:endParaRPr b="1">
              <a:solidFill>
                <a:schemeClr val="lt1"/>
              </a:solidFill>
            </a:endParaRPr>
          </a:p>
        </p:txBody>
      </p:sp>
      <p:pic>
        <p:nvPicPr>
          <p:cNvPr id="269" name="Google Shape;269;p55"/>
          <p:cNvPicPr preferRelativeResize="0"/>
          <p:nvPr/>
        </p:nvPicPr>
        <p:blipFill rotWithShape="1">
          <a:blip r:embed="rId3">
            <a:alphaModFix/>
          </a:blip>
          <a:srcRect/>
          <a:stretch/>
        </p:blipFill>
        <p:spPr>
          <a:xfrm>
            <a:off x="0" y="1083725"/>
            <a:ext cx="9144000" cy="4059776"/>
          </a:xfrm>
          <a:prstGeom prst="rect">
            <a:avLst/>
          </a:prstGeom>
          <a:noFill/>
          <a:ln w="9525" cap="flat" cmpd="sng">
            <a:solidFill>
              <a:schemeClr val="lt1"/>
            </a:solidFill>
            <a:prstDash val="solid"/>
            <a:round/>
            <a:headEnd type="none" w="sm" len="sm"/>
            <a:tailEnd type="none" w="sm" len="sm"/>
          </a:ln>
        </p:spPr>
      </p:pic>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56"/>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a:solidFill>
                  <a:schemeClr val="lt1"/>
                </a:solidFill>
                <a:latin typeface="Merriweather"/>
                <a:ea typeface="Merriweather"/>
                <a:cs typeface="Merriweather"/>
                <a:sym typeface="Merriweather"/>
              </a:rPr>
              <a:t>Dataset Preprocessing</a:t>
            </a:r>
            <a:endParaRPr/>
          </a:p>
        </p:txBody>
      </p:sp>
      <p:pic>
        <p:nvPicPr>
          <p:cNvPr id="275" name="Google Shape;275;p56" descr="Download Free Data processing Icons in PNG &amp; SVG"/>
          <p:cNvPicPr preferRelativeResize="0"/>
          <p:nvPr/>
        </p:nvPicPr>
        <p:blipFill rotWithShape="1">
          <a:blip r:embed="rId3">
            <a:alphaModFix/>
          </a:blip>
          <a:srcRect/>
          <a:stretch/>
        </p:blipFill>
        <p:spPr>
          <a:xfrm>
            <a:off x="6694583" y="35687"/>
            <a:ext cx="1124625" cy="1124625"/>
          </a:xfrm>
          <a:prstGeom prst="rect">
            <a:avLst/>
          </a:prstGeom>
          <a:noFill/>
          <a:ln>
            <a:noFill/>
          </a:ln>
        </p:spPr>
      </p:pic>
      <p:sp>
        <p:nvSpPr>
          <p:cNvPr id="276" name="Google Shape;276;p56"/>
          <p:cNvSpPr txBox="1"/>
          <p:nvPr/>
        </p:nvSpPr>
        <p:spPr>
          <a:xfrm>
            <a:off x="0" y="1151071"/>
            <a:ext cx="9144000" cy="3700630"/>
          </a:xfrm>
          <a:prstGeom prst="rect">
            <a:avLst/>
          </a:prstGeom>
          <a:solidFill>
            <a:schemeClr val="lt1"/>
          </a:solidFill>
          <a:ln>
            <a:noFill/>
          </a:ln>
        </p:spPr>
        <p:txBody>
          <a:bodyPr spcFirstLastPara="1" wrap="square" lIns="91425" tIns="91425" rIns="91425" bIns="91425" anchor="t" anchorCtr="0">
            <a:noAutofit/>
          </a:bodyPr>
          <a:lstStyle/>
          <a:p>
            <a:pPr marL="457200" marR="0" lvl="0" indent="-317500" algn="l" rtl="0">
              <a:lnSpc>
                <a:spcPct val="115000"/>
              </a:lnSpc>
              <a:spcBef>
                <a:spcPts val="1200"/>
              </a:spcBef>
              <a:spcAft>
                <a:spcPts val="0"/>
              </a:spcAft>
              <a:buClr>
                <a:srgbClr val="000000"/>
              </a:buClr>
              <a:buSzPts val="1400"/>
              <a:buFont typeface="Merriweather"/>
              <a:buAutoNum type="arabicPeriod"/>
            </a:pPr>
            <a:r>
              <a:rPr lang="en-US" b="1" i="0" u="none" strike="noStrike" cap="none" dirty="0">
                <a:solidFill>
                  <a:srgbClr val="000000"/>
                </a:solidFill>
                <a:latin typeface="Merriweather"/>
                <a:ea typeface="Merriweather"/>
                <a:cs typeface="Merriweather"/>
                <a:sym typeface="Merriweather"/>
              </a:rPr>
              <a:t>Image Standardization</a:t>
            </a:r>
            <a:endParaRPr b="1" i="0" u="none" strike="noStrike" cap="none">
              <a:solidFill>
                <a:srgbClr val="000000"/>
              </a:solidFill>
              <a:latin typeface="Merriweather"/>
              <a:ea typeface="Merriweather"/>
              <a:cs typeface="Merriweather"/>
              <a:sym typeface="Merriweather"/>
            </a:endParaRPr>
          </a:p>
          <a:p>
            <a:pPr marL="914400" marR="0" lvl="1" indent="-317500" algn="l" rtl="0">
              <a:lnSpc>
                <a:spcPct val="115000"/>
              </a:lnSpc>
              <a:spcBef>
                <a:spcPts val="0"/>
              </a:spcBef>
              <a:spcAft>
                <a:spcPts val="0"/>
              </a:spcAft>
              <a:buClr>
                <a:srgbClr val="000000"/>
              </a:buClr>
              <a:buSzPts val="1400"/>
              <a:buFont typeface="Arial"/>
              <a:buChar char="○"/>
            </a:pPr>
            <a:r>
              <a:rPr lang="en-US" b="0" i="0" u="none" strike="noStrike" cap="none" dirty="0">
                <a:solidFill>
                  <a:srgbClr val="000000"/>
                </a:solidFill>
                <a:latin typeface="Merriweather"/>
                <a:ea typeface="Merriweather"/>
                <a:cs typeface="Merriweather"/>
                <a:sym typeface="Merriweather"/>
              </a:rPr>
              <a:t>All images resize to </a:t>
            </a:r>
            <a:r>
              <a:rPr lang="en-US" b="1" i="0" u="none" strike="noStrike" cap="none" dirty="0">
                <a:solidFill>
                  <a:srgbClr val="000000"/>
                </a:solidFill>
                <a:latin typeface="Merriweather"/>
                <a:ea typeface="Merriweather"/>
                <a:cs typeface="Merriweather"/>
                <a:sym typeface="Merriweather"/>
              </a:rPr>
              <a:t>640 × 640 pixels</a:t>
            </a:r>
            <a:endParaRPr b="1" i="0" u="none" strike="noStrike" cap="none">
              <a:solidFill>
                <a:srgbClr val="000000"/>
              </a:solidFill>
              <a:latin typeface="Merriweather"/>
              <a:ea typeface="Merriweather"/>
              <a:cs typeface="Merriweather"/>
              <a:sym typeface="Merriweather"/>
            </a:endParaRPr>
          </a:p>
          <a:p>
            <a:pPr marL="914400" marR="0" lvl="1" indent="-317500" algn="l" rtl="0">
              <a:lnSpc>
                <a:spcPct val="150000"/>
              </a:lnSpc>
              <a:spcBef>
                <a:spcPts val="0"/>
              </a:spcBef>
              <a:spcAft>
                <a:spcPts val="0"/>
              </a:spcAft>
              <a:buClr>
                <a:srgbClr val="000000"/>
              </a:buClr>
              <a:buSzPts val="1400"/>
              <a:buFont typeface="Merriweather"/>
              <a:buChar char="○"/>
            </a:pPr>
            <a:r>
              <a:rPr lang="en-US" b="0" i="0" u="none" strike="noStrike" cap="none" dirty="0">
                <a:solidFill>
                  <a:srgbClr val="000000"/>
                </a:solidFill>
                <a:latin typeface="Merriweather"/>
                <a:ea typeface="Merriweather"/>
                <a:cs typeface="Merriweather"/>
                <a:sym typeface="Merriweather"/>
              </a:rPr>
              <a:t>Ensures uniform input dimensions for the model</a:t>
            </a:r>
            <a:endParaRPr b="0"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Merriweather"/>
              <a:buAutoNum type="arabicPeriod"/>
            </a:pPr>
            <a:r>
              <a:rPr lang="en-US" b="1" i="0" u="none" strike="noStrike" cap="none" dirty="0">
                <a:solidFill>
                  <a:srgbClr val="000000"/>
                </a:solidFill>
                <a:latin typeface="Merriweather"/>
                <a:ea typeface="Merriweather"/>
                <a:cs typeface="Merriweather"/>
                <a:sym typeface="Merriweather"/>
              </a:rPr>
              <a:t>Data Augmentation</a:t>
            </a:r>
            <a:endParaRPr b="1" i="0" u="none" strike="noStrike" cap="none">
              <a:solidFill>
                <a:srgbClr val="000000"/>
              </a:solidFill>
              <a:latin typeface="Merriweather"/>
              <a:ea typeface="Merriweather"/>
              <a:cs typeface="Merriweather"/>
              <a:sym typeface="Merriweather"/>
            </a:endParaRPr>
          </a:p>
          <a:p>
            <a:pPr marL="914400" marR="0" lvl="1" indent="-317500" algn="l" rtl="0">
              <a:lnSpc>
                <a:spcPct val="150000"/>
              </a:lnSpc>
              <a:spcBef>
                <a:spcPts val="0"/>
              </a:spcBef>
              <a:spcAft>
                <a:spcPts val="0"/>
              </a:spcAft>
              <a:buClr>
                <a:srgbClr val="000000"/>
              </a:buClr>
              <a:buSzPts val="1400"/>
              <a:buFont typeface="Arial"/>
              <a:buChar char="○"/>
            </a:pPr>
            <a:r>
              <a:rPr lang="en-US" b="0" i="0" u="none" strike="noStrike" cap="none" dirty="0">
                <a:solidFill>
                  <a:srgbClr val="000000"/>
                </a:solidFill>
                <a:latin typeface="Merriweather"/>
                <a:ea typeface="Merriweather"/>
                <a:cs typeface="Merriweather"/>
                <a:sym typeface="Merriweather"/>
              </a:rPr>
              <a:t>Applied simple yet effective techniques:</a:t>
            </a:r>
            <a:br>
              <a:rPr lang="en-US" b="0" i="0" u="none" strike="noStrike" cap="none" dirty="0">
                <a:solidFill>
                  <a:srgbClr val="000000"/>
                </a:solidFill>
                <a:latin typeface="Merriweather"/>
                <a:ea typeface="Merriweather"/>
                <a:cs typeface="Merriweather"/>
                <a:sym typeface="Merriweather"/>
              </a:rPr>
            </a:br>
            <a:r>
              <a:rPr lang="en-US" b="0" i="0" u="none" strike="noStrike" cap="none" dirty="0">
                <a:solidFill>
                  <a:srgbClr val="000000"/>
                </a:solidFill>
                <a:latin typeface="Merriweather"/>
                <a:ea typeface="Merriweather"/>
                <a:cs typeface="Merriweather"/>
                <a:sym typeface="Merriweather"/>
              </a:rPr>
              <a:t> • </a:t>
            </a:r>
            <a:r>
              <a:rPr lang="en-US" b="1" i="0" u="none" strike="noStrike" cap="none" dirty="0">
                <a:solidFill>
                  <a:srgbClr val="000000"/>
                </a:solidFill>
                <a:latin typeface="Merriweather"/>
                <a:ea typeface="Merriweather"/>
                <a:cs typeface="Merriweather"/>
                <a:sym typeface="Merriweather"/>
              </a:rPr>
              <a:t>Horizontal Flip</a:t>
            </a:r>
            <a:endParaRPr b="1"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Merriweather"/>
              <a:buAutoNum type="arabicPeriod"/>
            </a:pPr>
            <a:r>
              <a:rPr lang="en-US" b="1" i="0" u="none" strike="noStrike" cap="none" dirty="0">
                <a:solidFill>
                  <a:srgbClr val="000000"/>
                </a:solidFill>
                <a:latin typeface="Merriweather"/>
                <a:ea typeface="Merriweather"/>
                <a:cs typeface="Merriweather"/>
                <a:sym typeface="Merriweather"/>
              </a:rPr>
              <a:t>Dataset Splitting</a:t>
            </a:r>
            <a:endParaRPr b="1" i="0" u="none" strike="noStrike" cap="none">
              <a:solidFill>
                <a:srgbClr val="000000"/>
              </a:solidFill>
              <a:latin typeface="Merriweather"/>
              <a:ea typeface="Merriweather"/>
              <a:cs typeface="Merriweather"/>
              <a:sym typeface="Merriweather"/>
            </a:endParaRPr>
          </a:p>
          <a:p>
            <a:pPr marL="914400" marR="0" lvl="1" indent="-317500" algn="l" rtl="0">
              <a:lnSpc>
                <a:spcPct val="150000"/>
              </a:lnSpc>
              <a:spcBef>
                <a:spcPts val="0"/>
              </a:spcBef>
              <a:spcAft>
                <a:spcPts val="0"/>
              </a:spcAft>
              <a:buClr>
                <a:srgbClr val="000000"/>
              </a:buClr>
              <a:buSzPts val="1400"/>
              <a:buFont typeface="Arial"/>
              <a:buChar char="○"/>
            </a:pPr>
            <a:r>
              <a:rPr lang="en-US" b="0" i="0" u="none" strike="noStrike" cap="none" dirty="0">
                <a:solidFill>
                  <a:srgbClr val="000000"/>
                </a:solidFill>
                <a:latin typeface="Merriweather"/>
                <a:ea typeface="Merriweather"/>
                <a:cs typeface="Merriweather"/>
                <a:sym typeface="Merriweather"/>
              </a:rPr>
              <a:t>Divided into:</a:t>
            </a:r>
            <a:br>
              <a:rPr lang="en-US" b="0" i="0" u="none" strike="noStrike" cap="none" dirty="0">
                <a:solidFill>
                  <a:srgbClr val="000000"/>
                </a:solidFill>
                <a:latin typeface="Merriweather"/>
                <a:ea typeface="Merriweather"/>
                <a:cs typeface="Merriweather"/>
                <a:sym typeface="Merriweather"/>
              </a:rPr>
            </a:br>
            <a:r>
              <a:rPr lang="en-US" b="0" i="0" u="none" strike="noStrike" cap="none" dirty="0">
                <a:solidFill>
                  <a:srgbClr val="000000"/>
                </a:solidFill>
                <a:latin typeface="Merriweather"/>
                <a:ea typeface="Merriweather"/>
                <a:cs typeface="Merriweather"/>
                <a:sym typeface="Merriweather"/>
              </a:rPr>
              <a:t> • </a:t>
            </a:r>
            <a:r>
              <a:rPr lang="en-US" b="1" i="0" u="none" strike="noStrike" cap="none" dirty="0">
                <a:solidFill>
                  <a:srgbClr val="000000"/>
                </a:solidFill>
                <a:latin typeface="Merriweather"/>
                <a:ea typeface="Merriweather"/>
                <a:cs typeface="Merriweather"/>
                <a:sym typeface="Merriweather"/>
              </a:rPr>
              <a:t>70% Training</a:t>
            </a:r>
            <a:br>
              <a:rPr lang="en-US" b="1" i="0" u="none" strike="noStrike" cap="none" dirty="0">
                <a:solidFill>
                  <a:srgbClr val="000000"/>
                </a:solidFill>
                <a:latin typeface="Merriweather"/>
                <a:ea typeface="Merriweather"/>
                <a:cs typeface="Merriweather"/>
                <a:sym typeface="Merriweather"/>
              </a:rPr>
            </a:br>
            <a:r>
              <a:rPr lang="en-US" b="0" i="0" u="none" strike="noStrike" cap="none" dirty="0">
                <a:solidFill>
                  <a:srgbClr val="000000"/>
                </a:solidFill>
                <a:latin typeface="Merriweather"/>
                <a:ea typeface="Merriweather"/>
                <a:cs typeface="Merriweather"/>
                <a:sym typeface="Merriweather"/>
              </a:rPr>
              <a:t> • </a:t>
            </a:r>
            <a:r>
              <a:rPr lang="en-US" b="1" i="0" u="none" strike="noStrike" cap="none" dirty="0">
                <a:solidFill>
                  <a:srgbClr val="000000"/>
                </a:solidFill>
                <a:latin typeface="Merriweather"/>
                <a:ea typeface="Merriweather"/>
                <a:cs typeface="Merriweather"/>
                <a:sym typeface="Merriweather"/>
              </a:rPr>
              <a:t>15% Validation</a:t>
            </a:r>
            <a:br>
              <a:rPr lang="en-US" b="1" i="0" u="none" strike="noStrike" cap="none" dirty="0">
                <a:solidFill>
                  <a:srgbClr val="000000"/>
                </a:solidFill>
                <a:latin typeface="Merriweather"/>
                <a:ea typeface="Merriweather"/>
                <a:cs typeface="Merriweather"/>
                <a:sym typeface="Merriweather"/>
              </a:rPr>
            </a:br>
            <a:r>
              <a:rPr lang="en-US" b="0" i="0" u="none" strike="noStrike" cap="none" dirty="0">
                <a:solidFill>
                  <a:srgbClr val="000000"/>
                </a:solidFill>
                <a:latin typeface="Merriweather"/>
                <a:ea typeface="Merriweather"/>
                <a:cs typeface="Merriweather"/>
                <a:sym typeface="Merriweather"/>
              </a:rPr>
              <a:t> • </a:t>
            </a:r>
            <a:r>
              <a:rPr lang="en-US" b="1" i="0" u="none" strike="noStrike" cap="none" dirty="0">
                <a:solidFill>
                  <a:srgbClr val="000000"/>
                </a:solidFill>
                <a:latin typeface="Merriweather"/>
                <a:ea typeface="Merriweather"/>
                <a:cs typeface="Merriweather"/>
                <a:sym typeface="Merriweather"/>
              </a:rPr>
              <a:t>15% Testing</a:t>
            </a:r>
            <a:endParaRPr b="1" i="0" u="none" strike="noStrike" cap="none">
              <a:solidFill>
                <a:srgbClr val="000000"/>
              </a:solidFill>
              <a:latin typeface="Merriweather"/>
              <a:ea typeface="Merriweather"/>
              <a:cs typeface="Merriweather"/>
              <a:sym typeface="Merriweather"/>
            </a:endParaRPr>
          </a:p>
          <a:p>
            <a:pPr marL="914400" marR="0" lvl="1" indent="-317500" algn="l" rtl="0">
              <a:lnSpc>
                <a:spcPct val="150000"/>
              </a:lnSpc>
              <a:spcBef>
                <a:spcPts val="0"/>
              </a:spcBef>
              <a:spcAft>
                <a:spcPts val="0"/>
              </a:spcAft>
              <a:buClr>
                <a:srgbClr val="000000"/>
              </a:buClr>
              <a:buSzPts val="1400"/>
              <a:buFont typeface="Arial"/>
              <a:buChar char="○"/>
            </a:pPr>
            <a:r>
              <a:rPr lang="en-US" b="0" i="0" u="none" strike="noStrike" cap="none" dirty="0">
                <a:solidFill>
                  <a:srgbClr val="000000"/>
                </a:solidFill>
                <a:latin typeface="Merriweather"/>
                <a:ea typeface="Merriweather"/>
                <a:cs typeface="Merriweather"/>
                <a:sym typeface="Merriweather"/>
              </a:rPr>
              <a:t>Ensured </a:t>
            </a:r>
            <a:r>
              <a:rPr lang="en-US" b="1" i="0" u="none" strike="noStrike" cap="none" dirty="0">
                <a:solidFill>
                  <a:srgbClr val="000000"/>
                </a:solidFill>
                <a:latin typeface="Merriweather"/>
                <a:ea typeface="Merriweather"/>
                <a:cs typeface="Merriweather"/>
                <a:sym typeface="Merriweather"/>
              </a:rPr>
              <a:t>class balance</a:t>
            </a:r>
            <a:r>
              <a:rPr lang="en-US" b="0" i="0" u="none" strike="noStrike" cap="none" dirty="0">
                <a:solidFill>
                  <a:srgbClr val="000000"/>
                </a:solidFill>
                <a:latin typeface="Merriweather"/>
                <a:ea typeface="Merriweather"/>
                <a:cs typeface="Merriweather"/>
                <a:sym typeface="Merriweather"/>
              </a:rPr>
              <a:t> between </a:t>
            </a:r>
            <a:r>
              <a:rPr lang="en-US" b="0" i="1" u="none" strike="noStrike" cap="none" dirty="0">
                <a:solidFill>
                  <a:srgbClr val="000000"/>
                </a:solidFill>
                <a:latin typeface="Merriweather"/>
                <a:ea typeface="Merriweather"/>
                <a:cs typeface="Merriweather"/>
                <a:sym typeface="Merriweather"/>
              </a:rPr>
              <a:t>fresh</a:t>
            </a:r>
            <a:r>
              <a:rPr lang="en-US" b="0" i="0" u="none" strike="noStrike" cap="none" dirty="0">
                <a:solidFill>
                  <a:srgbClr val="000000"/>
                </a:solidFill>
                <a:latin typeface="Merriweather"/>
                <a:ea typeface="Merriweather"/>
                <a:cs typeface="Merriweather"/>
                <a:sym typeface="Merriweather"/>
              </a:rPr>
              <a:t> and </a:t>
            </a:r>
            <a:r>
              <a:rPr lang="en-US" b="0" i="1" u="none" strike="noStrike" cap="none" dirty="0">
                <a:solidFill>
                  <a:srgbClr val="000000"/>
                </a:solidFill>
                <a:latin typeface="Merriweather"/>
                <a:ea typeface="Merriweather"/>
                <a:cs typeface="Merriweather"/>
                <a:sym typeface="Merriweather"/>
              </a:rPr>
              <a:t>damaged</a:t>
            </a:r>
            <a:r>
              <a:rPr lang="en-US" b="0" i="0" u="none" strike="noStrike" cap="none" dirty="0">
                <a:solidFill>
                  <a:srgbClr val="000000"/>
                </a:solidFill>
                <a:latin typeface="Merriweather"/>
                <a:ea typeface="Merriweather"/>
                <a:cs typeface="Merriweather"/>
                <a:sym typeface="Merriweather"/>
              </a:rPr>
              <a:t> vegetables</a:t>
            </a:r>
            <a:br>
              <a:rPr lang="en-US" b="0" i="0" u="none" strike="noStrike" cap="none" dirty="0">
                <a:solidFill>
                  <a:srgbClr val="000000"/>
                </a:solidFill>
                <a:latin typeface="Merriweather"/>
                <a:ea typeface="Merriweather"/>
                <a:cs typeface="Merriweather"/>
                <a:sym typeface="Merriweather"/>
              </a:rPr>
            </a:br>
            <a:endParaRPr b="0" i="0" u="none" strike="noStrike" cap="none">
              <a:solidFill>
                <a:srgbClr val="000000"/>
              </a:solidFill>
              <a:latin typeface="Merriweather"/>
              <a:ea typeface="Merriweather"/>
              <a:cs typeface="Merriweather"/>
              <a:sym typeface="Merriweather"/>
            </a:endParaRPr>
          </a:p>
          <a:p>
            <a:pPr marL="0" marR="0" lvl="0" indent="0" algn="l" rtl="0">
              <a:lnSpc>
                <a:spcPct val="115000"/>
              </a:lnSpc>
              <a:spcBef>
                <a:spcPts val="1200"/>
              </a:spcBef>
              <a:spcAft>
                <a:spcPts val="0"/>
              </a:spcAft>
              <a:buClr>
                <a:srgbClr val="000000"/>
              </a:buClr>
              <a:buSzPts val="1400"/>
              <a:buFont typeface="Arial"/>
              <a:buNone/>
            </a:pPr>
            <a:endParaRPr b="0" i="0" u="none" strike="noStrike" cap="none">
              <a:solidFill>
                <a:schemeClr val="dk2"/>
              </a:solidFill>
              <a:latin typeface="Merriweather"/>
              <a:ea typeface="Merriweather"/>
              <a:cs typeface="Merriweather"/>
              <a:sym typeface="Merriweather"/>
            </a:endParaRPr>
          </a:p>
        </p:txBody>
      </p:sp>
      <p:pic>
        <p:nvPicPr>
          <p:cNvPr id="277" name="Google Shape;277;p56"/>
          <p:cNvPicPr preferRelativeResize="0"/>
          <p:nvPr/>
        </p:nvPicPr>
        <p:blipFill rotWithShape="1">
          <a:blip r:embed="rId4">
            <a:alphaModFix/>
          </a:blip>
          <a:srcRect/>
          <a:stretch/>
        </p:blipFill>
        <p:spPr>
          <a:xfrm>
            <a:off x="5392275" y="1446575"/>
            <a:ext cx="3627576" cy="1299275"/>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57"/>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a:solidFill>
                  <a:schemeClr val="lt1"/>
                </a:solidFill>
                <a:latin typeface="Merriweather"/>
                <a:ea typeface="Merriweather"/>
                <a:cs typeface="Merriweather"/>
                <a:sym typeface="Merriweather"/>
              </a:rPr>
              <a:t>Dataset Preprocessing</a:t>
            </a:r>
            <a:endParaRPr/>
          </a:p>
        </p:txBody>
      </p:sp>
      <p:pic>
        <p:nvPicPr>
          <p:cNvPr id="283" name="Google Shape;283;p57" descr="Download Free Data processing Icons in PNG &amp; SVG"/>
          <p:cNvPicPr preferRelativeResize="0"/>
          <p:nvPr/>
        </p:nvPicPr>
        <p:blipFill rotWithShape="1">
          <a:blip r:embed="rId3">
            <a:alphaModFix/>
          </a:blip>
          <a:srcRect/>
          <a:stretch/>
        </p:blipFill>
        <p:spPr>
          <a:xfrm>
            <a:off x="6694583" y="35687"/>
            <a:ext cx="1124625" cy="1124625"/>
          </a:xfrm>
          <a:prstGeom prst="rect">
            <a:avLst/>
          </a:prstGeom>
          <a:noFill/>
          <a:ln>
            <a:noFill/>
          </a:ln>
        </p:spPr>
      </p:pic>
      <p:sp>
        <p:nvSpPr>
          <p:cNvPr id="284" name="Google Shape;284;p57"/>
          <p:cNvSpPr txBox="1"/>
          <p:nvPr/>
        </p:nvSpPr>
        <p:spPr>
          <a:xfrm>
            <a:off x="311725" y="1539575"/>
            <a:ext cx="8117100" cy="1893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1200"/>
              </a:spcBef>
              <a:spcAft>
                <a:spcPts val="0"/>
              </a:spcAft>
              <a:buClr>
                <a:srgbClr val="000000"/>
              </a:buClr>
              <a:buSzPts val="1800"/>
              <a:buFont typeface="Arial"/>
              <a:buNone/>
            </a:pPr>
            <a:r>
              <a:rPr lang="en-US" sz="1600" b="1" u="sng">
                <a:latin typeface="Merriweather"/>
                <a:ea typeface="Merriweather"/>
                <a:cs typeface="Merriweather"/>
                <a:sym typeface="Merriweather"/>
              </a:rPr>
              <a:t>Preprocessed Data</a:t>
            </a:r>
            <a:endParaRPr sz="1600" b="1" i="0" u="sng"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120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8 vegetable classes + 1 multiclass (mixed)</a:t>
            </a:r>
            <a:endParaRPr b="1"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Arial"/>
              <a:buChar char="●"/>
            </a:pPr>
            <a:r>
              <a:rPr lang="en-US" b="1" i="0" u="none" strike="noStrike" cap="none">
                <a:solidFill>
                  <a:srgbClr val="000000"/>
                </a:solidFill>
                <a:latin typeface="Merriweather"/>
                <a:ea typeface="Merriweather"/>
                <a:cs typeface="Merriweather"/>
                <a:sym typeface="Merriweather"/>
              </a:rPr>
              <a:t>Total:</a:t>
            </a:r>
            <a:r>
              <a:rPr lang="en-US" b="0" i="0" u="none" strike="noStrike" cap="none">
                <a:solidFill>
                  <a:srgbClr val="000000"/>
                </a:solidFill>
                <a:latin typeface="Merriweather"/>
                <a:ea typeface="Merriweather"/>
                <a:cs typeface="Merriweather"/>
                <a:sym typeface="Merriweather"/>
              </a:rPr>
              <a:t> 4,</a:t>
            </a:r>
            <a:r>
              <a:rPr lang="en-US">
                <a:latin typeface="Merriweather"/>
                <a:ea typeface="Merriweather"/>
                <a:cs typeface="Merriweather"/>
                <a:sym typeface="Merriweather"/>
              </a:rPr>
              <a:t>797</a:t>
            </a:r>
            <a:r>
              <a:rPr lang="en-US" b="0" i="0" u="none" strike="noStrike" cap="none">
                <a:solidFill>
                  <a:srgbClr val="000000"/>
                </a:solidFill>
                <a:latin typeface="Merriweather"/>
                <a:ea typeface="Merriweather"/>
                <a:cs typeface="Merriweather"/>
                <a:sym typeface="Merriweather"/>
              </a:rPr>
              <a:t> images </a:t>
            </a:r>
            <a:endParaRPr b="0"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Arial"/>
              <a:buChar char="●"/>
            </a:pPr>
            <a:r>
              <a:rPr lang="en-US" b="0" i="0" u="none" strike="noStrike" cap="none">
                <a:solidFill>
                  <a:srgbClr val="000000"/>
                </a:solidFill>
                <a:latin typeface="Merriweather"/>
                <a:ea typeface="Merriweather"/>
                <a:cs typeface="Merriweather"/>
                <a:sym typeface="Merriweather"/>
              </a:rPr>
              <a:t>Each image annotated with </a:t>
            </a:r>
            <a:r>
              <a:rPr lang="en-US" b="1" i="0" u="none" strike="noStrike" cap="none">
                <a:solidFill>
                  <a:srgbClr val="000000"/>
                </a:solidFill>
                <a:latin typeface="Merriweather"/>
                <a:ea typeface="Merriweather"/>
                <a:cs typeface="Merriweather"/>
                <a:sym typeface="Merriweather"/>
              </a:rPr>
              <a:t>bounding boxes + class labels</a:t>
            </a:r>
            <a:br>
              <a:rPr lang="en-US" b="1" i="0" u="none" strike="noStrike" cap="none">
                <a:solidFill>
                  <a:srgbClr val="000000"/>
                </a:solidFill>
                <a:latin typeface="Merriweather"/>
                <a:ea typeface="Merriweather"/>
                <a:cs typeface="Merriweather"/>
                <a:sym typeface="Merriweather"/>
              </a:rPr>
            </a:br>
            <a:endParaRPr b="1" i="0" u="none" strike="noStrike" cap="none">
              <a:solidFill>
                <a:srgbClr val="000000"/>
              </a:solidFill>
              <a:latin typeface="Merriweather"/>
              <a:ea typeface="Merriweather"/>
              <a:cs typeface="Merriweather"/>
              <a:sym typeface="Merriweather"/>
            </a:endParaRPr>
          </a:p>
        </p:txBody>
      </p:sp>
      <p:pic>
        <p:nvPicPr>
          <p:cNvPr id="285" name="Google Shape;285;p57"/>
          <p:cNvPicPr preferRelativeResize="0"/>
          <p:nvPr/>
        </p:nvPicPr>
        <p:blipFill rotWithShape="1">
          <a:blip r:embed="rId4">
            <a:alphaModFix/>
          </a:blip>
          <a:srcRect/>
          <a:stretch/>
        </p:blipFill>
        <p:spPr>
          <a:xfrm>
            <a:off x="4241125" y="3386675"/>
            <a:ext cx="4591201" cy="1502350"/>
          </a:xfrm>
          <a:prstGeom prst="rect">
            <a:avLst/>
          </a:prstGeom>
          <a:noFill/>
          <a:ln>
            <a:noFill/>
          </a:ln>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58"/>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a:solidFill>
                  <a:schemeClr val="lt1"/>
                </a:solidFill>
                <a:latin typeface="Merriweather"/>
                <a:ea typeface="Merriweather"/>
                <a:cs typeface="Merriweather"/>
                <a:sym typeface="Merriweather"/>
              </a:rPr>
              <a:t>Supervised Models</a:t>
            </a:r>
            <a:endParaRPr/>
          </a:p>
        </p:txBody>
      </p:sp>
      <p:sp>
        <p:nvSpPr>
          <p:cNvPr id="291" name="Google Shape;291;p58"/>
          <p:cNvSpPr txBox="1"/>
          <p:nvPr/>
        </p:nvSpPr>
        <p:spPr>
          <a:xfrm>
            <a:off x="1196850" y="1649025"/>
            <a:ext cx="6750300" cy="2874300"/>
          </a:xfrm>
          <a:prstGeom prst="rect">
            <a:avLst/>
          </a:prstGeom>
          <a:noFill/>
          <a:ln>
            <a:noFill/>
          </a:ln>
        </p:spPr>
        <p:txBody>
          <a:bodyPr spcFirstLastPara="1" wrap="square" lIns="91425" tIns="91425" rIns="91425" bIns="91425" anchor="t" anchorCtr="0">
            <a:noAutofit/>
          </a:bodyPr>
          <a:lstStyle/>
          <a:p>
            <a:pPr marL="0" marR="0" lvl="0" indent="0" algn="ctr" rtl="0">
              <a:lnSpc>
                <a:spcPct val="150000"/>
              </a:lnSpc>
              <a:spcBef>
                <a:spcPts val="1200"/>
              </a:spcBef>
              <a:spcAft>
                <a:spcPts val="0"/>
              </a:spcAft>
              <a:buClr>
                <a:srgbClr val="000000"/>
              </a:buClr>
              <a:buSzPts val="1500"/>
              <a:buFont typeface="Arial"/>
              <a:buNone/>
            </a:pPr>
            <a:r>
              <a:rPr lang="en-US" b="1">
                <a:latin typeface="Merriweather"/>
                <a:ea typeface="Merriweather"/>
                <a:cs typeface="Merriweather"/>
                <a:sym typeface="Merriweather"/>
              </a:rPr>
              <a:t>The objective is to e</a:t>
            </a:r>
            <a:r>
              <a:rPr lang="en-US" b="1" i="0" u="none" strike="noStrike" cap="none">
                <a:solidFill>
                  <a:srgbClr val="000000"/>
                </a:solidFill>
                <a:latin typeface="Merriweather"/>
                <a:ea typeface="Merriweather"/>
                <a:cs typeface="Merriweather"/>
                <a:sym typeface="Merriweather"/>
              </a:rPr>
              <a:t>stablish a robust baseline for real-time vegetable detection in an automated sorting system.</a:t>
            </a:r>
            <a:endParaRPr b="1" i="0" u="none" strike="noStrike" cap="none">
              <a:solidFill>
                <a:srgbClr val="000000"/>
              </a:solidFill>
              <a:latin typeface="Merriweather"/>
              <a:ea typeface="Merriweather"/>
              <a:cs typeface="Merriweather"/>
              <a:sym typeface="Merriweather"/>
            </a:endParaRPr>
          </a:p>
          <a:p>
            <a:pPr marL="0" marR="0" lvl="0" indent="0" algn="l" rtl="0">
              <a:lnSpc>
                <a:spcPct val="150000"/>
              </a:lnSpc>
              <a:spcBef>
                <a:spcPts val="1200"/>
              </a:spcBef>
              <a:spcAft>
                <a:spcPts val="0"/>
              </a:spcAft>
              <a:buClr>
                <a:srgbClr val="000000"/>
              </a:buClr>
              <a:buSzPts val="1500"/>
              <a:buFont typeface="Arial"/>
              <a:buNone/>
            </a:pPr>
            <a:r>
              <a:rPr lang="en-US" b="1">
                <a:latin typeface="Merriweather"/>
                <a:ea typeface="Merriweather"/>
                <a:cs typeface="Merriweather"/>
                <a:sym typeface="Merriweather"/>
              </a:rPr>
              <a:t>Chosen Models</a:t>
            </a:r>
            <a:endParaRPr b="1"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120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YOLOv10</a:t>
            </a:r>
            <a:endParaRPr b="1"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 YOLOv11</a:t>
            </a:r>
            <a:endParaRPr b="1"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 YOLOv12</a:t>
            </a:r>
            <a:endParaRPr b="1" i="0" u="none" strike="noStrike" cap="none">
              <a:solidFill>
                <a:srgbClr val="000000"/>
              </a:solidFill>
              <a:latin typeface="Merriweather"/>
              <a:ea typeface="Merriweather"/>
              <a:cs typeface="Merriweather"/>
              <a:sym typeface="Merriweather"/>
            </a:endParaRPr>
          </a:p>
          <a:p>
            <a:pPr marL="0" marR="0" lvl="0" indent="0" algn="l" rtl="0">
              <a:lnSpc>
                <a:spcPct val="150000"/>
              </a:lnSpc>
              <a:spcBef>
                <a:spcPts val="1200"/>
              </a:spcBef>
              <a:spcAft>
                <a:spcPts val="0"/>
              </a:spcAft>
              <a:buClr>
                <a:srgbClr val="000000"/>
              </a:buClr>
              <a:buSzPts val="1500"/>
              <a:buFont typeface="Arial"/>
              <a:buNone/>
            </a:pPr>
            <a:r>
              <a:rPr lang="en-US" i="0" u="none" strike="noStrike" cap="none">
                <a:solidFill>
                  <a:srgbClr val="000000"/>
                </a:solidFill>
                <a:latin typeface="Merriweather"/>
                <a:ea typeface="Merriweather"/>
                <a:cs typeface="Merriweather"/>
                <a:sym typeface="Merriweather"/>
              </a:rPr>
              <a:t> → Chosen for </a:t>
            </a:r>
            <a:r>
              <a:rPr lang="en-US" b="1" i="0" u="none" strike="noStrike" cap="none">
                <a:solidFill>
                  <a:srgbClr val="000000"/>
                </a:solidFill>
                <a:latin typeface="Merriweather"/>
                <a:ea typeface="Merriweather"/>
                <a:cs typeface="Merriweather"/>
                <a:sym typeface="Merriweather"/>
              </a:rPr>
              <a:t>high precision, speed, and efficiency</a:t>
            </a:r>
            <a:r>
              <a:rPr lang="en-US" i="0" u="none" strike="noStrike" cap="none">
                <a:solidFill>
                  <a:srgbClr val="000000"/>
                </a:solidFill>
                <a:latin typeface="Merriweather"/>
                <a:ea typeface="Merriweather"/>
                <a:cs typeface="Merriweather"/>
                <a:sym typeface="Merriweather"/>
              </a:rPr>
              <a:t> in object detection.</a:t>
            </a:r>
            <a:br>
              <a:rPr lang="en-US" i="0" u="none" strike="noStrike" cap="none">
                <a:solidFill>
                  <a:srgbClr val="000000"/>
                </a:solidFill>
                <a:latin typeface="Merriweather"/>
                <a:ea typeface="Merriweather"/>
                <a:cs typeface="Merriweather"/>
                <a:sym typeface="Merriweather"/>
              </a:rPr>
            </a:br>
            <a:endParaRPr i="0" u="none" strike="noStrike" cap="none">
              <a:solidFill>
                <a:srgbClr val="000000"/>
              </a:solidFill>
              <a:latin typeface="Merriweather"/>
              <a:ea typeface="Merriweather"/>
              <a:cs typeface="Merriweather"/>
              <a:sym typeface="Merriweather"/>
            </a:endParaRPr>
          </a:p>
          <a:p>
            <a:pPr marL="0" marR="0" lvl="0" indent="0" algn="l" rtl="0">
              <a:lnSpc>
                <a:spcPct val="150000"/>
              </a:lnSpc>
              <a:spcBef>
                <a:spcPts val="1200"/>
              </a:spcBef>
              <a:spcAft>
                <a:spcPts val="0"/>
              </a:spcAft>
              <a:buClr>
                <a:srgbClr val="000000"/>
              </a:buClr>
              <a:buSzPts val="1500"/>
              <a:buFont typeface="Arial"/>
              <a:buNone/>
            </a:pPr>
            <a:endParaRPr i="0" u="none" strike="noStrike" cap="none">
              <a:solidFill>
                <a:schemeClr val="dk2"/>
              </a:solidFill>
              <a:latin typeface="Merriweather"/>
              <a:ea typeface="Merriweather"/>
              <a:cs typeface="Merriweather"/>
              <a:sym typeface="Merriweather"/>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59"/>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a:solidFill>
                  <a:schemeClr val="lt1"/>
                </a:solidFill>
                <a:latin typeface="Merriweather"/>
                <a:ea typeface="Merriweather"/>
                <a:cs typeface="Merriweather"/>
                <a:sym typeface="Merriweather"/>
              </a:rPr>
              <a:t>Supervised Models</a:t>
            </a:r>
            <a:endParaRPr/>
          </a:p>
        </p:txBody>
      </p:sp>
      <p:sp>
        <p:nvSpPr>
          <p:cNvPr id="297" name="Google Shape;297;p59"/>
          <p:cNvSpPr txBox="1"/>
          <p:nvPr/>
        </p:nvSpPr>
        <p:spPr>
          <a:xfrm>
            <a:off x="516550" y="1648200"/>
            <a:ext cx="7962300" cy="1893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1200"/>
              </a:spcBef>
              <a:spcAft>
                <a:spcPts val="0"/>
              </a:spcAft>
              <a:buClr>
                <a:srgbClr val="000000"/>
              </a:buClr>
              <a:buSzPts val="1800"/>
              <a:buFont typeface="Arial"/>
              <a:buNone/>
            </a:pPr>
            <a:r>
              <a:rPr lang="en-US" sz="1600" b="1" i="0" u="sng" strike="noStrike" cap="none">
                <a:solidFill>
                  <a:srgbClr val="000000"/>
                </a:solidFill>
                <a:latin typeface="Merriweather"/>
                <a:ea typeface="Merriweather"/>
                <a:cs typeface="Merriweather"/>
                <a:sym typeface="Merriweather"/>
              </a:rPr>
              <a:t>Training Setup</a:t>
            </a:r>
            <a:endParaRPr sz="1600" b="1" i="0" u="sng"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1200"/>
              </a:spcBef>
              <a:spcAft>
                <a:spcPts val="0"/>
              </a:spcAft>
              <a:buClr>
                <a:srgbClr val="000000"/>
              </a:buClr>
              <a:buSzPts val="1400"/>
              <a:buFont typeface="Arial"/>
              <a:buChar char="●"/>
            </a:pPr>
            <a:r>
              <a:rPr lang="en-US" b="1" i="0" u="none" strike="noStrike" cap="none">
                <a:solidFill>
                  <a:srgbClr val="000000"/>
                </a:solidFill>
                <a:latin typeface="Merriweather"/>
                <a:ea typeface="Merriweather"/>
                <a:cs typeface="Merriweather"/>
                <a:sym typeface="Merriweather"/>
              </a:rPr>
              <a:t>Transfer Learning:</a:t>
            </a:r>
            <a:r>
              <a:rPr lang="en-US" b="0" i="0" u="none" strike="noStrike" cap="none">
                <a:solidFill>
                  <a:srgbClr val="000000"/>
                </a:solidFill>
                <a:latin typeface="Merriweather"/>
                <a:ea typeface="Merriweather"/>
                <a:cs typeface="Merriweather"/>
                <a:sym typeface="Merriweather"/>
              </a:rPr>
              <a:t> Pre-trained on </a:t>
            </a:r>
            <a:r>
              <a:rPr lang="en-US" b="1" i="0" u="none" strike="noStrike" cap="none">
                <a:solidFill>
                  <a:srgbClr val="000000"/>
                </a:solidFill>
                <a:latin typeface="Merriweather"/>
                <a:ea typeface="Merriweather"/>
                <a:cs typeface="Merriweather"/>
                <a:sym typeface="Merriweather"/>
              </a:rPr>
              <a:t>COCO dataset </a:t>
            </a:r>
            <a:r>
              <a:rPr lang="en-US">
                <a:latin typeface="Merriweather"/>
                <a:ea typeface="Merriweather"/>
                <a:cs typeface="Merriweather"/>
                <a:sym typeface="Merriweather"/>
              </a:rPr>
              <a:t>transferred to </a:t>
            </a:r>
            <a:r>
              <a:rPr lang="en-US" b="1">
                <a:latin typeface="Merriweather"/>
                <a:ea typeface="Merriweather"/>
                <a:cs typeface="Merriweather"/>
                <a:sym typeface="Merriweather"/>
              </a:rPr>
              <a:t>YOLO</a:t>
            </a:r>
            <a:endParaRPr b="1"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Arial"/>
              <a:buChar char="●"/>
            </a:pPr>
            <a:r>
              <a:rPr lang="en-US" b="1" i="0" u="none" strike="noStrike" cap="none">
                <a:solidFill>
                  <a:srgbClr val="000000"/>
                </a:solidFill>
                <a:latin typeface="Merriweather"/>
                <a:ea typeface="Merriweather"/>
                <a:cs typeface="Merriweather"/>
                <a:sym typeface="Merriweather"/>
              </a:rPr>
              <a:t>Optimizer:</a:t>
            </a:r>
            <a:r>
              <a:rPr lang="en-US" b="0" i="0" u="none" strike="noStrike" cap="none">
                <a:solidFill>
                  <a:srgbClr val="000000"/>
                </a:solidFill>
                <a:latin typeface="Merriweather"/>
                <a:ea typeface="Merriweather"/>
                <a:cs typeface="Merriweather"/>
                <a:sym typeface="Merriweather"/>
              </a:rPr>
              <a:t> AdamW + </a:t>
            </a:r>
            <a:r>
              <a:rPr lang="en-US" b="1" i="0" u="none" strike="noStrike" cap="none">
                <a:solidFill>
                  <a:srgbClr val="000000"/>
                </a:solidFill>
                <a:latin typeface="Merriweather"/>
                <a:ea typeface="Merriweather"/>
                <a:cs typeface="Merriweather"/>
                <a:sym typeface="Merriweather"/>
              </a:rPr>
              <a:t>Cosine Annealing</a:t>
            </a:r>
            <a:r>
              <a:rPr lang="en-US" b="0" i="0" u="none" strike="noStrike" cap="none">
                <a:solidFill>
                  <a:srgbClr val="000000"/>
                </a:solidFill>
                <a:latin typeface="Merriweather"/>
                <a:ea typeface="Merriweather"/>
                <a:cs typeface="Merriweather"/>
                <a:sym typeface="Merriweather"/>
              </a:rPr>
              <a:t> scheduler</a:t>
            </a:r>
            <a:endParaRPr b="0"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Arial"/>
              <a:buChar char="●"/>
            </a:pPr>
            <a:r>
              <a:rPr lang="en-US" b="1" i="0" u="none" strike="noStrike" cap="none">
                <a:solidFill>
                  <a:srgbClr val="000000"/>
                </a:solidFill>
                <a:latin typeface="Merriweather"/>
                <a:ea typeface="Merriweather"/>
                <a:cs typeface="Merriweather"/>
                <a:sym typeface="Merriweather"/>
              </a:rPr>
              <a:t>Loss:</a:t>
            </a:r>
            <a:r>
              <a:rPr lang="en-US" b="0" i="0" u="none" strike="noStrike" cap="none">
                <a:solidFill>
                  <a:srgbClr val="000000"/>
                </a:solidFill>
                <a:latin typeface="Merriweather"/>
                <a:ea typeface="Merriweather"/>
                <a:cs typeface="Merriweather"/>
                <a:sym typeface="Merriweather"/>
              </a:rPr>
              <a:t> Localization + Confidence + Classification</a:t>
            </a:r>
            <a:endParaRPr b="0" i="0" u="none"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Arial"/>
              <a:buChar char="●"/>
            </a:pPr>
            <a:r>
              <a:rPr lang="en-US" b="1" i="0" u="none" strike="noStrike" cap="none">
                <a:solidFill>
                  <a:srgbClr val="000000"/>
                </a:solidFill>
                <a:latin typeface="Merriweather"/>
                <a:ea typeface="Merriweather"/>
                <a:cs typeface="Merriweather"/>
                <a:sym typeface="Merriweather"/>
              </a:rPr>
              <a:t>Target:</a:t>
            </a:r>
            <a:r>
              <a:rPr lang="en-US" b="0" i="0" u="none" strike="noStrike" cap="none">
                <a:solidFill>
                  <a:srgbClr val="000000"/>
                </a:solidFill>
                <a:latin typeface="Merriweather"/>
                <a:ea typeface="Merriweather"/>
                <a:cs typeface="Merriweather"/>
                <a:sym typeface="Merriweather"/>
              </a:rPr>
              <a:t> mAP@0.5 ↑, IoU &gt; 0.7</a:t>
            </a:r>
            <a:endParaRPr b="0" i="0" u="none" strike="noStrike" cap="none">
              <a:solidFill>
                <a:srgbClr val="000000"/>
              </a:solidFill>
              <a:latin typeface="Merriweather"/>
              <a:ea typeface="Merriweather"/>
              <a:cs typeface="Merriweather"/>
              <a:sym typeface="Merriweather"/>
            </a:endParaRPr>
          </a:p>
        </p:txBody>
      </p:sp>
      <p:pic>
        <p:nvPicPr>
          <p:cNvPr id="298" name="Google Shape;298;p59"/>
          <p:cNvPicPr preferRelativeResize="0"/>
          <p:nvPr/>
        </p:nvPicPr>
        <p:blipFill rotWithShape="1">
          <a:blip r:embed="rId3">
            <a:alphaModFix/>
          </a:blip>
          <a:srcRect l="-125864" t="-3723" r="151691" b="29550"/>
          <a:stretch/>
        </p:blipFill>
        <p:spPr>
          <a:xfrm>
            <a:off x="152400" y="2976400"/>
            <a:ext cx="2857500" cy="1600200"/>
          </a:xfrm>
          <a:prstGeom prst="rect">
            <a:avLst/>
          </a:prstGeom>
          <a:noFill/>
          <a:ln>
            <a:noFill/>
          </a:ln>
        </p:spPr>
      </p:pic>
      <p:pic>
        <p:nvPicPr>
          <p:cNvPr id="299" name="Google Shape;299;p59"/>
          <p:cNvPicPr preferRelativeResize="0"/>
          <p:nvPr/>
        </p:nvPicPr>
        <p:blipFill>
          <a:blip r:embed="rId3">
            <a:alphaModFix/>
          </a:blip>
          <a:stretch>
            <a:fillRect/>
          </a:stretch>
        </p:blipFill>
        <p:spPr>
          <a:xfrm>
            <a:off x="5542020" y="3012950"/>
            <a:ext cx="3298380" cy="1847100"/>
          </a:xfrm>
          <a:prstGeom prst="rect">
            <a:avLst/>
          </a:prstGeom>
          <a:noFill/>
          <a:ln>
            <a:noFill/>
          </a:ln>
        </p:spPr>
      </p:pic>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60"/>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a:solidFill>
                  <a:schemeClr val="lt1"/>
                </a:solidFill>
                <a:latin typeface="Merriweather"/>
                <a:ea typeface="Merriweather"/>
                <a:cs typeface="Merriweather"/>
                <a:sym typeface="Merriweather"/>
              </a:rPr>
              <a:t>Supervised Models</a:t>
            </a:r>
            <a:endParaRPr/>
          </a:p>
        </p:txBody>
      </p:sp>
      <p:sp>
        <p:nvSpPr>
          <p:cNvPr id="305" name="Google Shape;305;p60"/>
          <p:cNvSpPr txBox="1"/>
          <p:nvPr/>
        </p:nvSpPr>
        <p:spPr>
          <a:xfrm>
            <a:off x="311725" y="1477475"/>
            <a:ext cx="80898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1200"/>
              </a:spcBef>
              <a:spcAft>
                <a:spcPts val="0"/>
              </a:spcAft>
              <a:buClr>
                <a:srgbClr val="000000"/>
              </a:buClr>
              <a:buSzPts val="1800"/>
              <a:buFont typeface="Arial"/>
              <a:buNone/>
            </a:pPr>
            <a:r>
              <a:rPr lang="en-US" sz="1600" b="1" i="0" u="sng" strike="noStrike" cap="none">
                <a:solidFill>
                  <a:srgbClr val="000000"/>
                </a:solidFill>
                <a:latin typeface="Merriweather"/>
                <a:ea typeface="Merriweather"/>
                <a:cs typeface="Merriweather"/>
                <a:sym typeface="Merriweather"/>
              </a:rPr>
              <a:t>Evaluation Metrics</a:t>
            </a:r>
            <a:endParaRPr sz="1600" b="1" i="0" u="sng" strike="noStrike" cap="none">
              <a:solidFill>
                <a:srgbClr val="000000"/>
              </a:solidFill>
              <a:latin typeface="Merriweather"/>
              <a:ea typeface="Merriweather"/>
              <a:cs typeface="Merriweather"/>
              <a:sym typeface="Merriweather"/>
            </a:endParaRPr>
          </a:p>
          <a:p>
            <a:pPr marL="457200" marR="0" lvl="0" indent="-317500" algn="l" rtl="0">
              <a:lnSpc>
                <a:spcPct val="150000"/>
              </a:lnSpc>
              <a:spcBef>
                <a:spcPts val="1200"/>
              </a:spcBef>
              <a:spcAft>
                <a:spcPts val="0"/>
              </a:spcAft>
              <a:buClr>
                <a:srgbClr val="000000"/>
              </a:buClr>
              <a:buSzPts val="1400"/>
              <a:buFont typeface="Arial"/>
              <a:buChar char="●"/>
            </a:pPr>
            <a:r>
              <a:rPr lang="en-US" b="1" i="0" u="none" strike="noStrike" cap="none">
                <a:solidFill>
                  <a:srgbClr val="000000"/>
                </a:solidFill>
                <a:highlight>
                  <a:srgbClr val="FFFFFF"/>
                </a:highlight>
                <a:latin typeface="Merriweather"/>
                <a:ea typeface="Merriweather"/>
                <a:cs typeface="Merriweather"/>
                <a:sym typeface="Merriweather"/>
              </a:rPr>
              <a:t>Evaluation: </a:t>
            </a:r>
            <a:r>
              <a:rPr lang="en-US" b="0" i="0" u="none" strike="noStrike" cap="none">
                <a:solidFill>
                  <a:srgbClr val="000000"/>
                </a:solidFill>
                <a:highlight>
                  <a:srgbClr val="FFFFFF"/>
                </a:highlight>
                <a:latin typeface="Merriweather"/>
                <a:ea typeface="Merriweather"/>
                <a:cs typeface="Merriweather"/>
                <a:sym typeface="Merriweather"/>
              </a:rPr>
              <a:t>Accuracy, </a:t>
            </a:r>
            <a:r>
              <a:rPr lang="en-US" b="0" i="0" u="none" strike="noStrike" cap="none">
                <a:solidFill>
                  <a:srgbClr val="000000"/>
                </a:solidFill>
                <a:latin typeface="Merriweather"/>
                <a:ea typeface="Merriweather"/>
                <a:cs typeface="Merriweather"/>
                <a:sym typeface="Merriweather"/>
              </a:rPr>
              <a:t>Precision, Recall, F1-score, mAP@0.5, </a:t>
            </a:r>
            <a:r>
              <a:rPr lang="en-US" b="0" i="0" u="none" strike="noStrike" cap="none">
                <a:solidFill>
                  <a:srgbClr val="000000"/>
                </a:solidFill>
                <a:highlight>
                  <a:srgbClr val="FFFFFF"/>
                </a:highlight>
                <a:latin typeface="Merriweather"/>
                <a:ea typeface="Merriweather"/>
                <a:cs typeface="Merriweather"/>
                <a:sym typeface="Merriweather"/>
              </a:rPr>
              <a:t>mAP@0.50:0.90, PR-AUC, MCC</a:t>
            </a:r>
            <a:endParaRPr b="0" i="0" u="none" strike="noStrike" cap="none">
              <a:solidFill>
                <a:srgbClr val="000000"/>
              </a:solidFill>
              <a:highlight>
                <a:srgbClr val="FFFFFF"/>
              </a:highlight>
              <a:latin typeface="Merriweather"/>
              <a:ea typeface="Merriweather"/>
              <a:cs typeface="Merriweather"/>
              <a:sym typeface="Merriweather"/>
            </a:endParaRPr>
          </a:p>
          <a:p>
            <a:pPr marL="457200" marR="0" lvl="0" indent="-317500" algn="l" rtl="0">
              <a:lnSpc>
                <a:spcPct val="150000"/>
              </a:lnSpc>
              <a:spcBef>
                <a:spcPts val="0"/>
              </a:spcBef>
              <a:spcAft>
                <a:spcPts val="0"/>
              </a:spcAft>
              <a:buClr>
                <a:srgbClr val="000000"/>
              </a:buClr>
              <a:buSzPts val="1400"/>
              <a:buFont typeface="Arial"/>
              <a:buChar char="●"/>
            </a:pPr>
            <a:r>
              <a:rPr lang="en-US" b="1" i="0" u="none" strike="noStrike" cap="none">
                <a:solidFill>
                  <a:srgbClr val="000000"/>
                </a:solidFill>
                <a:latin typeface="Merriweather"/>
                <a:ea typeface="Merriweather"/>
                <a:cs typeface="Merriweather"/>
                <a:sym typeface="Merriweather"/>
              </a:rPr>
              <a:t>Curve Analysis: </a:t>
            </a:r>
            <a:r>
              <a:rPr lang="en-US" b="0" i="0" u="none" strike="noStrike" cap="none">
                <a:solidFill>
                  <a:srgbClr val="000000"/>
                </a:solidFill>
                <a:highlight>
                  <a:srgbClr val="FFFFFF"/>
                </a:highlight>
                <a:latin typeface="Merriweather"/>
                <a:ea typeface="Merriweather"/>
                <a:cs typeface="Merriweather"/>
                <a:sym typeface="Merriweather"/>
              </a:rPr>
              <a:t>ROC-AUC Curve, Precision-Recall Curve, Loss Curve, Accuracy Curve.</a:t>
            </a:r>
            <a:endParaRPr b="0" i="0" u="none" strike="noStrike" cap="none">
              <a:solidFill>
                <a:srgbClr val="000000"/>
              </a:solidFill>
              <a:latin typeface="Merriweather"/>
              <a:ea typeface="Merriweather"/>
              <a:cs typeface="Merriweather"/>
              <a:sym typeface="Merriweather"/>
            </a:endParaRPr>
          </a:p>
          <a:p>
            <a:pPr marL="0" marR="0" lvl="0" indent="0" algn="l" rtl="0">
              <a:lnSpc>
                <a:spcPct val="150000"/>
              </a:lnSpc>
              <a:spcBef>
                <a:spcPts val="1200"/>
              </a:spcBef>
              <a:spcAft>
                <a:spcPts val="1200"/>
              </a:spcAft>
              <a:buClr>
                <a:srgbClr val="000000"/>
              </a:buClr>
              <a:buSzPts val="1800"/>
              <a:buFont typeface="Arial"/>
              <a:buNone/>
            </a:pPr>
            <a:r>
              <a:rPr lang="en-US" b="0" i="0" u="none" strike="noStrike" cap="none">
                <a:solidFill>
                  <a:srgbClr val="000000"/>
                </a:solidFill>
                <a:latin typeface="Merriweather"/>
                <a:ea typeface="Merriweather"/>
                <a:cs typeface="Merriweather"/>
                <a:sym typeface="Merriweather"/>
              </a:rPr>
              <a:t> → Compare YOLOv10, YOLOv11 &amp; YOLOv12 performance</a:t>
            </a:r>
            <a:endParaRPr b="0" i="0" u="none" strike="noStrike" cap="none">
              <a:solidFill>
                <a:srgbClr val="000000"/>
              </a:solidFill>
              <a:latin typeface="Merriweather"/>
              <a:ea typeface="Merriweather"/>
              <a:cs typeface="Merriweather"/>
              <a:sym typeface="Merriweather"/>
            </a:endParaRPr>
          </a:p>
        </p:txBody>
      </p:sp>
      <p:pic>
        <p:nvPicPr>
          <p:cNvPr id="306" name="Google Shape;306;p60"/>
          <p:cNvPicPr preferRelativeResize="0"/>
          <p:nvPr/>
        </p:nvPicPr>
        <p:blipFill rotWithShape="1">
          <a:blip r:embed="rId3">
            <a:alphaModFix/>
          </a:blip>
          <a:srcRect/>
          <a:stretch/>
        </p:blipFill>
        <p:spPr>
          <a:xfrm>
            <a:off x="4843238" y="3384700"/>
            <a:ext cx="4165288" cy="1665025"/>
          </a:xfrm>
          <a:prstGeom prst="rect">
            <a:avLst/>
          </a:prstGeom>
          <a:noFill/>
          <a:ln>
            <a:noFill/>
          </a:ln>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61"/>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Clr>
                <a:schemeClr val="lt1"/>
              </a:buClr>
              <a:buSzPts val="2800"/>
              <a:buFont typeface="Arial"/>
              <a:buNone/>
            </a:pPr>
            <a:r>
              <a:rPr lang="en-US" sz="2800" b="1">
                <a:solidFill>
                  <a:schemeClr val="lt1"/>
                </a:solidFill>
                <a:latin typeface="Merriweather"/>
                <a:ea typeface="Merriweather"/>
                <a:cs typeface="Merriweather"/>
                <a:sym typeface="Merriweather"/>
              </a:rPr>
              <a:t>SSL Architecture</a:t>
            </a:r>
            <a:endParaRPr/>
          </a:p>
        </p:txBody>
      </p:sp>
      <p:sp>
        <p:nvSpPr>
          <p:cNvPr id="312" name="Google Shape;312;p61"/>
          <p:cNvSpPr txBox="1"/>
          <p:nvPr/>
        </p:nvSpPr>
        <p:spPr>
          <a:xfrm>
            <a:off x="700625" y="1547600"/>
            <a:ext cx="7704600" cy="2893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a:latin typeface="Merriweather"/>
                <a:ea typeface="Merriweather"/>
                <a:cs typeface="Merriweather"/>
                <a:sym typeface="Merriweather"/>
              </a:rPr>
              <a:t>The objective is to i</a:t>
            </a:r>
            <a:r>
              <a:rPr lang="en-US" b="1" i="0" u="none" strike="noStrike" cap="none">
                <a:solidFill>
                  <a:srgbClr val="000000"/>
                </a:solidFill>
                <a:latin typeface="Merriweather"/>
                <a:ea typeface="Merriweather"/>
                <a:cs typeface="Merriweather"/>
                <a:sym typeface="Merriweather"/>
              </a:rPr>
              <a:t>mprove detection accuracy &amp; robustness with minimal labeled data (~4,797 vegetable images).</a:t>
            </a:r>
            <a:endParaRPr b="1"/>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0" marR="0" lvl="0" indent="0" algn="l" rtl="0">
              <a:lnSpc>
                <a:spcPct val="100000"/>
              </a:lnSpc>
              <a:spcBef>
                <a:spcPts val="0"/>
              </a:spcBef>
              <a:spcAft>
                <a:spcPts val="0"/>
              </a:spcAft>
              <a:buNone/>
            </a:pPr>
            <a:r>
              <a:rPr lang="en-US" b="1">
                <a:latin typeface="Merriweather"/>
                <a:ea typeface="Merriweather"/>
                <a:cs typeface="Merriweather"/>
                <a:sym typeface="Merriweather"/>
              </a:rPr>
              <a:t>Chosen </a:t>
            </a:r>
            <a:r>
              <a:rPr lang="en-US" b="1" i="0" u="none" strike="noStrike" cap="none">
                <a:solidFill>
                  <a:srgbClr val="000000"/>
                </a:solidFill>
                <a:latin typeface="Merriweather"/>
                <a:ea typeface="Merriweather"/>
                <a:cs typeface="Merriweather"/>
                <a:sym typeface="Merriweather"/>
              </a:rPr>
              <a:t>SSL Methods: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730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DINOv2 Style:</a:t>
            </a:r>
            <a:r>
              <a:rPr lang="en-US" b="0" i="0" u="none" strike="noStrike" cap="none">
                <a:solidFill>
                  <a:srgbClr val="000000"/>
                </a:solidFill>
                <a:latin typeface="Merriweather"/>
                <a:ea typeface="Merriweather"/>
                <a:cs typeface="Merriweather"/>
                <a:sym typeface="Merriweather"/>
              </a:rPr>
              <a:t> Student-teacher network → learns invariant features (outlines, color, texture) → fine-tuned for detection.</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730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BYOL:</a:t>
            </a:r>
            <a:r>
              <a:rPr lang="en-US" b="0" i="0" u="none" strike="noStrike" cap="none">
                <a:solidFill>
                  <a:srgbClr val="000000"/>
                </a:solidFill>
                <a:latin typeface="Merriweather"/>
                <a:ea typeface="Merriweather"/>
                <a:cs typeface="Merriweather"/>
                <a:sym typeface="Merriweather"/>
              </a:rPr>
              <a:t> Predicts target network outputs from augmented views → computationally efficient → robust bounding boxes &amp; class predictions.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730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MAE:</a:t>
            </a:r>
            <a:r>
              <a:rPr lang="en-US" b="0" i="0" u="none" strike="noStrike" cap="none">
                <a:solidFill>
                  <a:srgbClr val="000000"/>
                </a:solidFill>
                <a:latin typeface="Merriweather"/>
                <a:ea typeface="Merriweather"/>
                <a:cs typeface="Merriweather"/>
                <a:sym typeface="Merriweather"/>
              </a:rPr>
              <a:t> Masks ~75% of image → learns global semantic structures → resilient to occlusion, lighting, and background noise.</a:t>
            </a:r>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62"/>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b="1">
                <a:solidFill>
                  <a:schemeClr val="lt1"/>
                </a:solidFill>
                <a:latin typeface="Merriweather"/>
                <a:ea typeface="Merriweather"/>
                <a:cs typeface="Merriweather"/>
                <a:sym typeface="Merriweather"/>
              </a:rPr>
              <a:t>SSL Architecture</a:t>
            </a:r>
            <a:endParaRPr/>
          </a:p>
        </p:txBody>
      </p:sp>
      <p:sp>
        <p:nvSpPr>
          <p:cNvPr id="318" name="Google Shape;318;p62"/>
          <p:cNvSpPr txBox="1"/>
          <p:nvPr/>
        </p:nvSpPr>
        <p:spPr>
          <a:xfrm>
            <a:off x="1301688" y="1598825"/>
            <a:ext cx="6540600" cy="1169700"/>
          </a:xfrm>
          <a:prstGeom prst="rect">
            <a:avLst/>
          </a:prstGeom>
          <a:noFill/>
          <a:ln>
            <a:noFill/>
          </a:ln>
        </p:spPr>
        <p:txBody>
          <a:bodyPr spcFirstLastPara="1" wrap="square" lIns="91425" tIns="45700" rIns="91425" bIns="45700" anchor="t" anchorCtr="0">
            <a:spAutoFit/>
          </a:bodyPr>
          <a:lstStyle/>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Evaluation:</a:t>
            </a:r>
            <a:r>
              <a:rPr lang="en-US" b="0" i="0" u="none" strike="noStrike" cap="none">
                <a:solidFill>
                  <a:srgbClr val="000000"/>
                </a:solidFill>
                <a:latin typeface="Merriweather"/>
                <a:ea typeface="Merriweather"/>
                <a:cs typeface="Merriweather"/>
                <a:sym typeface="Merriweather"/>
              </a:rPr>
              <a:t> Compare SSL models vs YOLO baselines using mAP, IoU, Precision, Recall, F1-score</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Integration:</a:t>
            </a:r>
            <a:r>
              <a:rPr lang="en-US" b="0" i="0" u="none" strike="noStrike" cap="none">
                <a:solidFill>
                  <a:srgbClr val="000000"/>
                </a:solidFill>
                <a:latin typeface="Merriweather"/>
                <a:ea typeface="Merriweather"/>
                <a:cs typeface="Merriweather"/>
                <a:sym typeface="Merriweather"/>
              </a:rPr>
              <a:t> Best SSL model powers </a:t>
            </a:r>
            <a:r>
              <a:rPr lang="en-US" b="1" i="0" u="none" strike="noStrike" cap="none">
                <a:solidFill>
                  <a:srgbClr val="000000"/>
                </a:solidFill>
                <a:latin typeface="Merriweather"/>
                <a:ea typeface="Merriweather"/>
                <a:cs typeface="Merriweather"/>
                <a:sym typeface="Merriweather"/>
              </a:rPr>
              <a:t>real-time robotic pick-and-place</a:t>
            </a:r>
            <a:r>
              <a:rPr lang="en-US" b="0" i="0" u="none" strike="noStrike" cap="none">
                <a:solidFill>
                  <a:srgbClr val="000000"/>
                </a:solidFill>
                <a:latin typeface="Merriweather"/>
                <a:ea typeface="Merriweather"/>
                <a:cs typeface="Merriweather"/>
                <a:sym typeface="Merriweather"/>
              </a:rPr>
              <a:t>, streamed to web dashboard via ROS.</a:t>
            </a:r>
            <a:endParaRPr/>
          </a:p>
        </p:txBody>
      </p:sp>
      <p:pic>
        <p:nvPicPr>
          <p:cNvPr id="319" name="Google Shape;319;p62"/>
          <p:cNvPicPr preferRelativeResize="0"/>
          <p:nvPr/>
        </p:nvPicPr>
        <p:blipFill rotWithShape="1">
          <a:blip r:embed="rId3">
            <a:alphaModFix/>
          </a:blip>
          <a:srcRect b="14244"/>
          <a:stretch/>
        </p:blipFill>
        <p:spPr>
          <a:xfrm>
            <a:off x="493350" y="3094575"/>
            <a:ext cx="8157275" cy="1516625"/>
          </a:xfrm>
          <a:prstGeom prst="rect">
            <a:avLst/>
          </a:prstGeom>
          <a:noFill/>
          <a:ln>
            <a:noFill/>
          </a:ln>
        </p:spPr>
      </p:pic>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63"/>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Clr>
                <a:schemeClr val="lt1"/>
              </a:buClr>
              <a:buSzPts val="3111"/>
              <a:buFont typeface="Arial"/>
              <a:buNone/>
            </a:pPr>
            <a:r>
              <a:rPr lang="en-US" sz="3133" b="1">
                <a:solidFill>
                  <a:schemeClr val="lt1"/>
                </a:solidFill>
                <a:latin typeface="Merriweather"/>
                <a:ea typeface="Merriweather"/>
                <a:cs typeface="Merriweather"/>
                <a:sym typeface="Merriweather"/>
              </a:rPr>
              <a:t>Explainable AI techniques</a:t>
            </a:r>
            <a:endParaRPr/>
          </a:p>
        </p:txBody>
      </p:sp>
      <p:sp>
        <p:nvSpPr>
          <p:cNvPr id="325" name="Google Shape;325;p63"/>
          <p:cNvSpPr txBox="1"/>
          <p:nvPr/>
        </p:nvSpPr>
        <p:spPr>
          <a:xfrm>
            <a:off x="1038975" y="1896650"/>
            <a:ext cx="7038300" cy="29553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sz="1600" b="1" u="sng">
              <a:latin typeface="Merriweather"/>
              <a:ea typeface="Merriweather"/>
              <a:cs typeface="Merriweather"/>
              <a:sym typeface="Merriweather"/>
            </a:endParaRPr>
          </a:p>
          <a:p>
            <a:pPr marL="457200" marR="0" lvl="0" indent="0" algn="l" rtl="0">
              <a:lnSpc>
                <a:spcPct val="100000"/>
              </a:lnSpc>
              <a:spcBef>
                <a:spcPts val="0"/>
              </a:spcBef>
              <a:spcAft>
                <a:spcPts val="0"/>
              </a:spcAft>
              <a:buNone/>
            </a:pPr>
            <a:r>
              <a:rPr lang="en-US" sz="1600" b="1" u="sng">
                <a:latin typeface="Merriweather"/>
                <a:ea typeface="Merriweather"/>
                <a:cs typeface="Merriweather"/>
                <a:sym typeface="Merriweather"/>
              </a:rPr>
              <a:t>Proposed </a:t>
            </a:r>
            <a:r>
              <a:rPr lang="en-US" sz="1600" b="1" i="0" u="sng" strike="noStrike" cap="none">
                <a:solidFill>
                  <a:srgbClr val="000000"/>
                </a:solidFill>
                <a:latin typeface="Merriweather"/>
                <a:ea typeface="Merriweather"/>
                <a:cs typeface="Merriweather"/>
                <a:sym typeface="Merriweather"/>
              </a:rPr>
              <a:t>Techniques:</a:t>
            </a:r>
            <a:endParaRPr sz="1600" b="0" i="0" u="sng"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b="1"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r>
              <a:rPr lang="en-US" b="1" i="0" u="none" strike="noStrike" cap="none">
                <a:solidFill>
                  <a:srgbClr val="000000"/>
                </a:solidFill>
                <a:latin typeface="Merriweather"/>
                <a:ea typeface="Merriweather"/>
                <a:cs typeface="Merriweather"/>
                <a:sym typeface="Merriweather"/>
              </a:rPr>
              <a:t>Grad-CAM:</a:t>
            </a:r>
            <a:r>
              <a:rPr lang="en-US" b="0" i="0" u="none" strike="noStrike" cap="none">
                <a:solidFill>
                  <a:srgbClr val="000000"/>
                </a:solidFill>
                <a:latin typeface="Merriweather"/>
                <a:ea typeface="Merriweather"/>
                <a:cs typeface="Merriweather"/>
                <a:sym typeface="Merriweather"/>
              </a:rPr>
              <a:t> </a:t>
            </a:r>
            <a:endParaRPr b="0"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a:latin typeface="Merriweather"/>
              <a:ea typeface="Merriweather"/>
              <a:cs typeface="Merriweather"/>
              <a:sym typeface="Merriweather"/>
            </a:endParaRPr>
          </a:p>
          <a:p>
            <a:pPr marL="457200" marR="0" lvl="0" indent="0" algn="l" rtl="0">
              <a:lnSpc>
                <a:spcPct val="100000"/>
              </a:lnSpc>
              <a:spcBef>
                <a:spcPts val="0"/>
              </a:spcBef>
              <a:spcAft>
                <a:spcPts val="0"/>
              </a:spcAft>
              <a:buNone/>
            </a:pPr>
            <a:r>
              <a:rPr lang="en-US" b="0" i="0" u="none" strike="noStrike" cap="none">
                <a:solidFill>
                  <a:srgbClr val="000000"/>
                </a:solidFill>
                <a:latin typeface="Merriweather"/>
                <a:ea typeface="Merriweather"/>
                <a:cs typeface="Merriweather"/>
                <a:sym typeface="Merriweather"/>
              </a:rPr>
              <a:t>Produces heatmaps → highlights areas influencing predictions (</a:t>
            </a:r>
            <a:r>
              <a:rPr lang="en-US">
                <a:latin typeface="Merriweather"/>
                <a:ea typeface="Merriweather"/>
                <a:cs typeface="Merriweather"/>
                <a:sym typeface="Merriweather"/>
              </a:rPr>
              <a:t>damaged</a:t>
            </a:r>
            <a:r>
              <a:rPr lang="en-US" b="0" i="0" u="none" strike="noStrike" cap="none">
                <a:solidFill>
                  <a:srgbClr val="000000"/>
                </a:solidFill>
                <a:latin typeface="Merriweather"/>
                <a:ea typeface="Merriweather"/>
                <a:cs typeface="Merriweather"/>
                <a:sym typeface="Merriweather"/>
              </a:rPr>
              <a:t> spots, color patterns).</a:t>
            </a:r>
            <a:endParaRPr/>
          </a:p>
          <a:p>
            <a:pPr marL="45720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r>
              <a:rPr lang="en-US" b="1" i="0" u="none" strike="noStrike" cap="none">
                <a:solidFill>
                  <a:srgbClr val="000000"/>
                </a:solidFill>
                <a:latin typeface="Merriweather"/>
                <a:ea typeface="Merriweather"/>
                <a:cs typeface="Merriweather"/>
                <a:sym typeface="Merriweather"/>
              </a:rPr>
              <a:t>LIME:</a:t>
            </a:r>
            <a:r>
              <a:rPr lang="en-US" b="0" i="0" u="none" strike="noStrike" cap="none">
                <a:solidFill>
                  <a:srgbClr val="000000"/>
                </a:solidFill>
                <a:latin typeface="Merriweather"/>
                <a:ea typeface="Merriweather"/>
                <a:cs typeface="Merriweather"/>
                <a:sym typeface="Merriweather"/>
              </a:rPr>
              <a:t> </a:t>
            </a:r>
            <a:endParaRPr b="0"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a:latin typeface="Merriweather"/>
              <a:ea typeface="Merriweather"/>
              <a:cs typeface="Merriweather"/>
              <a:sym typeface="Merriweather"/>
            </a:endParaRPr>
          </a:p>
          <a:p>
            <a:pPr marL="457200" marR="0" lvl="0" indent="0" algn="l" rtl="0">
              <a:lnSpc>
                <a:spcPct val="100000"/>
              </a:lnSpc>
              <a:spcBef>
                <a:spcPts val="0"/>
              </a:spcBef>
              <a:spcAft>
                <a:spcPts val="0"/>
              </a:spcAft>
              <a:buNone/>
            </a:pPr>
            <a:r>
              <a:rPr lang="en-US" b="0" i="0" u="none" strike="noStrike" cap="none">
                <a:solidFill>
                  <a:srgbClr val="000000"/>
                </a:solidFill>
                <a:latin typeface="Merriweather"/>
                <a:ea typeface="Merriweather"/>
                <a:cs typeface="Merriweather"/>
                <a:sym typeface="Merriweather"/>
              </a:rPr>
              <a:t>Tests local changes → identifies which features (color, texture) impact individual predictions.</a:t>
            </a:r>
            <a:endParaRPr/>
          </a:p>
          <a:p>
            <a:pPr marL="0" marR="0" lvl="0" indent="0" algn="l" rtl="0">
              <a:lnSpc>
                <a:spcPct val="100000"/>
              </a:lnSpc>
              <a:spcBef>
                <a:spcPts val="0"/>
              </a:spcBef>
              <a:spcAft>
                <a:spcPts val="0"/>
              </a:spcAft>
              <a:buNone/>
            </a:pPr>
            <a:endParaRPr b="0" i="0" u="none" strike="noStrike" cap="none">
              <a:solidFill>
                <a:srgbClr val="000000"/>
              </a:solidFill>
              <a:latin typeface="Arial"/>
              <a:ea typeface="Arial"/>
              <a:cs typeface="Arial"/>
              <a:sym typeface="Arial"/>
            </a:endParaRPr>
          </a:p>
        </p:txBody>
      </p:sp>
      <p:sp>
        <p:nvSpPr>
          <p:cNvPr id="326" name="Google Shape;326;p63"/>
          <p:cNvSpPr txBox="1"/>
          <p:nvPr/>
        </p:nvSpPr>
        <p:spPr>
          <a:xfrm>
            <a:off x="0" y="1294663"/>
            <a:ext cx="9144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a:latin typeface="Merriweather"/>
                <a:ea typeface="Merriweather"/>
                <a:cs typeface="Merriweather"/>
                <a:sym typeface="Merriweather"/>
              </a:rPr>
              <a:t>To understand how AI detects fresh and damaged vegetables.</a:t>
            </a:r>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64"/>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b="1">
                <a:solidFill>
                  <a:schemeClr val="lt1"/>
                </a:solidFill>
                <a:latin typeface="Merriweather"/>
                <a:ea typeface="Merriweather"/>
                <a:cs typeface="Merriweather"/>
                <a:sym typeface="Merriweather"/>
              </a:rPr>
              <a:t>Realtime Web Application Dashboard</a:t>
            </a:r>
            <a:endParaRPr/>
          </a:p>
        </p:txBody>
      </p:sp>
      <p:sp>
        <p:nvSpPr>
          <p:cNvPr id="332" name="Google Shape;332;p64"/>
          <p:cNvSpPr txBox="1"/>
          <p:nvPr/>
        </p:nvSpPr>
        <p:spPr>
          <a:xfrm>
            <a:off x="1443150" y="1369775"/>
            <a:ext cx="6257700" cy="35709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i="0" u="none" strike="noStrike" cap="none">
                <a:solidFill>
                  <a:srgbClr val="000000"/>
                </a:solidFill>
                <a:latin typeface="Merriweather"/>
                <a:ea typeface="Merriweather"/>
                <a:cs typeface="Merriweather"/>
                <a:sym typeface="Merriweather"/>
              </a:rPr>
              <a:t>Platform:</a:t>
            </a:r>
            <a:r>
              <a:rPr lang="en-US" b="0" i="0" u="none" strike="noStrike" cap="none">
                <a:solidFill>
                  <a:srgbClr val="000000"/>
                </a:solidFill>
                <a:latin typeface="Merriweather"/>
                <a:ea typeface="Merriweather"/>
                <a:cs typeface="Merriweather"/>
                <a:sym typeface="Merriweather"/>
              </a:rPr>
              <a:t> To </a:t>
            </a:r>
            <a:r>
              <a:rPr lang="en-US">
                <a:latin typeface="Merriweather"/>
                <a:ea typeface="Merriweather"/>
                <a:cs typeface="Merriweather"/>
                <a:sym typeface="Merriweather"/>
              </a:rPr>
              <a:t>b</a:t>
            </a:r>
            <a:r>
              <a:rPr lang="en-US" b="0" i="0" u="none" strike="noStrike" cap="none">
                <a:solidFill>
                  <a:srgbClr val="000000"/>
                </a:solidFill>
                <a:latin typeface="Merriweather"/>
                <a:ea typeface="Merriweather"/>
                <a:cs typeface="Merriweather"/>
                <a:sym typeface="Merriweather"/>
              </a:rPr>
              <a:t>uilt it on </a:t>
            </a:r>
            <a:r>
              <a:rPr lang="en-US" b="1" i="0" u="none" strike="noStrike" cap="none">
                <a:solidFill>
                  <a:srgbClr val="000000"/>
                </a:solidFill>
                <a:latin typeface="Merriweather"/>
                <a:ea typeface="Merriweather"/>
                <a:cs typeface="Merriweather"/>
                <a:sym typeface="Merriweather"/>
              </a:rPr>
              <a:t>Streamlit</a:t>
            </a:r>
            <a:r>
              <a:rPr lang="en-US" b="0" i="0" u="none" strike="noStrike" cap="none">
                <a:solidFill>
                  <a:srgbClr val="000000"/>
                </a:solidFill>
                <a:latin typeface="Merriweather"/>
                <a:ea typeface="Merriweather"/>
                <a:cs typeface="Merriweather"/>
                <a:sym typeface="Merriweather"/>
              </a:rPr>
              <a:t> </a:t>
            </a:r>
            <a:r>
              <a:rPr lang="en-US">
                <a:latin typeface="Merriweather"/>
                <a:ea typeface="Merriweather"/>
                <a:cs typeface="Merriweather"/>
                <a:sym typeface="Merriweather"/>
              </a:rPr>
              <a:t>(</a:t>
            </a:r>
            <a:r>
              <a:rPr lang="en-US" b="0" i="0" u="none" strike="noStrike" cap="none">
                <a:solidFill>
                  <a:srgbClr val="000000"/>
                </a:solidFill>
                <a:latin typeface="Merriweather"/>
                <a:ea typeface="Merriweather"/>
                <a:cs typeface="Merriweather"/>
                <a:sym typeface="Merriweather"/>
              </a:rPr>
              <a:t>interactive, user-friendly interface</a:t>
            </a:r>
            <a:r>
              <a:rPr lang="en-US">
                <a:latin typeface="Merriweather"/>
                <a:ea typeface="Merriweather"/>
                <a:cs typeface="Merriweather"/>
                <a:sym typeface="Merriweather"/>
              </a:rPr>
              <a:t>)</a:t>
            </a:r>
            <a:endParaRPr/>
          </a:p>
          <a:p>
            <a:pPr marL="0" marR="0" lvl="0" indent="0" algn="l" rtl="0">
              <a:lnSpc>
                <a:spcPct val="100000"/>
              </a:lnSpc>
              <a:spcBef>
                <a:spcPts val="0"/>
              </a:spcBef>
              <a:spcAft>
                <a:spcPts val="0"/>
              </a:spcAft>
              <a:buNone/>
            </a:pPr>
            <a:endParaRPr b="1">
              <a:latin typeface="Merriweather"/>
              <a:ea typeface="Merriweather"/>
              <a:cs typeface="Merriweather"/>
              <a:sym typeface="Merriweather"/>
            </a:endParaRPr>
          </a:p>
          <a:p>
            <a:pPr marL="0" marR="0" lvl="0" indent="0" algn="l" rtl="0">
              <a:lnSpc>
                <a:spcPct val="100000"/>
              </a:lnSpc>
              <a:spcBef>
                <a:spcPts val="0"/>
              </a:spcBef>
              <a:spcAft>
                <a:spcPts val="0"/>
              </a:spcAft>
              <a:buNone/>
            </a:pPr>
            <a:r>
              <a:rPr lang="en-US" sz="1600" b="1" u="sng">
                <a:latin typeface="Merriweather"/>
                <a:ea typeface="Merriweather"/>
                <a:cs typeface="Merriweather"/>
                <a:sym typeface="Merriweather"/>
              </a:rPr>
              <a:t>Core Features</a:t>
            </a:r>
            <a:endParaRPr sz="1600" b="1" u="sng">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b="1">
              <a:latin typeface="Merriweather"/>
              <a:ea typeface="Merriweather"/>
              <a:cs typeface="Merriweather"/>
              <a:sym typeface="Merriweather"/>
            </a:endParaRPr>
          </a:p>
          <a:p>
            <a:pPr marL="457200" marR="0" lvl="0" indent="-317500" algn="l" rtl="0">
              <a:lnSpc>
                <a:spcPct val="100000"/>
              </a:lnSpc>
              <a:spcBef>
                <a:spcPts val="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Image &amp; Video Detection</a:t>
            </a:r>
            <a:endParaRPr b="1"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b="1">
              <a:latin typeface="Merriweather"/>
              <a:ea typeface="Merriweather"/>
              <a:cs typeface="Merriweather"/>
              <a:sym typeface="Merriweather"/>
            </a:endParaRPr>
          </a:p>
          <a:p>
            <a:pPr marL="457200" marR="0" lvl="0" indent="-317500" algn="l" rtl="0">
              <a:lnSpc>
                <a:spcPct val="100000"/>
              </a:lnSpc>
              <a:spcBef>
                <a:spcPts val="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Annotation &amp; Saving</a:t>
            </a:r>
            <a:endParaRPr b="1"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b="1">
              <a:latin typeface="Merriweather"/>
              <a:ea typeface="Merriweather"/>
              <a:cs typeface="Merriweather"/>
              <a:sym typeface="Merriweather"/>
            </a:endParaRPr>
          </a:p>
          <a:p>
            <a:pPr marL="457200" marR="0" lvl="0" indent="-317500" algn="l" rtl="0">
              <a:lnSpc>
                <a:spcPct val="100000"/>
              </a:lnSpc>
              <a:spcBef>
                <a:spcPts val="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Dynamic Visualization</a:t>
            </a:r>
            <a:endParaRPr b="1"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b="1">
              <a:latin typeface="Merriweather"/>
              <a:ea typeface="Merriweather"/>
              <a:cs typeface="Merriweather"/>
              <a:sym typeface="Merriweather"/>
            </a:endParaRPr>
          </a:p>
          <a:p>
            <a:pPr marL="457200" marR="0" lvl="0" indent="-317500" algn="l" rtl="0">
              <a:lnSpc>
                <a:spcPct val="100000"/>
              </a:lnSpc>
              <a:spcBef>
                <a:spcPts val="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SSL-based Classification</a:t>
            </a:r>
            <a:r>
              <a:rPr lang="en-US" b="0" i="0" u="none" strike="noStrike" cap="none">
                <a:solidFill>
                  <a:srgbClr val="000000"/>
                </a:solidFill>
                <a:latin typeface="Merriweather"/>
                <a:ea typeface="Merriweather"/>
                <a:cs typeface="Merriweather"/>
                <a:sym typeface="Merriweather"/>
              </a:rPr>
              <a:t> </a:t>
            </a:r>
            <a:endParaRPr b="0"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a:latin typeface="Merriweather"/>
              <a:ea typeface="Merriweather"/>
              <a:cs typeface="Merriweather"/>
              <a:sym typeface="Merriweather"/>
            </a:endParaRPr>
          </a:p>
          <a:p>
            <a:pPr marL="457200" marR="0" lvl="0" indent="-317500" algn="l" rtl="0">
              <a:lnSpc>
                <a:spcPct val="100000"/>
              </a:lnSpc>
              <a:spcBef>
                <a:spcPts val="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Explainable AI</a:t>
            </a:r>
            <a:endParaRPr b="1"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b="1">
              <a:latin typeface="Merriweather"/>
              <a:ea typeface="Merriweather"/>
              <a:cs typeface="Merriweather"/>
              <a:sym typeface="Merriweather"/>
            </a:endParaRPr>
          </a:p>
          <a:p>
            <a:pPr marL="457200" marR="0" lvl="0" indent="-317500" algn="l" rtl="0">
              <a:lnSpc>
                <a:spcPct val="100000"/>
              </a:lnSpc>
              <a:spcBef>
                <a:spcPts val="0"/>
              </a:spcBef>
              <a:spcAft>
                <a:spcPts val="0"/>
              </a:spcAft>
              <a:buClr>
                <a:srgbClr val="000000"/>
              </a:buClr>
              <a:buSzPts val="1400"/>
              <a:buFont typeface="Merriweather"/>
              <a:buChar char="●"/>
            </a:pPr>
            <a:r>
              <a:rPr lang="en-US" b="1" i="0" u="none" strike="noStrike" cap="none">
                <a:solidFill>
                  <a:srgbClr val="000000"/>
                </a:solidFill>
                <a:latin typeface="Merriweather"/>
                <a:ea typeface="Merriweather"/>
                <a:cs typeface="Merriweather"/>
                <a:sym typeface="Merriweather"/>
              </a:rPr>
              <a:t>Automation</a:t>
            </a:r>
            <a:endParaRPr b="1"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b="1">
              <a:latin typeface="Merriweather"/>
              <a:ea typeface="Merriweather"/>
              <a:cs typeface="Merriweather"/>
              <a:sym typeface="Merriweather"/>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65"/>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SzPts val="2800"/>
              <a:buNone/>
            </a:pPr>
            <a:r>
              <a:rPr lang="en-US" sz="2800" b="1">
                <a:solidFill>
                  <a:schemeClr val="lt1"/>
                </a:solidFill>
                <a:latin typeface="Merriweather"/>
                <a:ea typeface="Merriweather"/>
                <a:cs typeface="Merriweather"/>
                <a:sym typeface="Merriweather"/>
              </a:rPr>
              <a:t>Realtime Web Application Dashboard</a:t>
            </a:r>
            <a:endParaRPr/>
          </a:p>
        </p:txBody>
      </p:sp>
      <p:pic>
        <p:nvPicPr>
          <p:cNvPr id="338" name="Google Shape;338;p65"/>
          <p:cNvPicPr preferRelativeResize="0"/>
          <p:nvPr/>
        </p:nvPicPr>
        <p:blipFill rotWithShape="1">
          <a:blip r:embed="rId3">
            <a:alphaModFix/>
          </a:blip>
          <a:srcRect l="1124" t="15996" r="1075" b="6351"/>
          <a:stretch/>
        </p:blipFill>
        <p:spPr>
          <a:xfrm>
            <a:off x="2491227" y="1526449"/>
            <a:ext cx="4161524" cy="3246374"/>
          </a:xfrm>
          <a:prstGeom prst="rect">
            <a:avLst/>
          </a:prstGeom>
          <a:noFill/>
          <a:ln>
            <a:noFill/>
          </a:ln>
        </p:spPr>
      </p:pic>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66"/>
          <p:cNvSpPr txBox="1"/>
          <p:nvPr/>
        </p:nvSpPr>
        <p:spPr>
          <a:xfrm>
            <a:off x="94275" y="0"/>
            <a:ext cx="8717100" cy="112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chemeClr val="lt1"/>
                </a:solidFill>
                <a:latin typeface="Merriweather"/>
                <a:ea typeface="Merriweather"/>
                <a:cs typeface="Merriweather"/>
                <a:sym typeface="Merriweather"/>
              </a:rPr>
              <a:t>     </a:t>
            </a:r>
            <a:endParaRPr sz="2800" b="0" i="0" u="none" strike="noStrike" cap="none">
              <a:solidFill>
                <a:schemeClr val="lt1"/>
              </a:solidFill>
              <a:latin typeface="Merriweather"/>
              <a:ea typeface="Merriweather"/>
              <a:cs typeface="Merriweather"/>
              <a:sym typeface="Merriweather"/>
            </a:endParaRPr>
          </a:p>
          <a:p>
            <a:pPr marL="0" lvl="0" indent="0" algn="ctr" rtl="0">
              <a:spcBef>
                <a:spcPts val="0"/>
              </a:spcBef>
              <a:spcAft>
                <a:spcPts val="0"/>
              </a:spcAft>
              <a:buClr>
                <a:schemeClr val="lt1"/>
              </a:buClr>
              <a:buSzPts val="2800"/>
              <a:buFont typeface="Arial"/>
              <a:buNone/>
            </a:pPr>
            <a:r>
              <a:rPr lang="en-US" sz="2800" b="1">
                <a:solidFill>
                  <a:schemeClr val="lt1"/>
                </a:solidFill>
                <a:latin typeface="Merriweather"/>
                <a:ea typeface="Merriweather"/>
                <a:cs typeface="Merriweather"/>
                <a:sym typeface="Merriweather"/>
              </a:rPr>
              <a:t>Robotic Arm Functionalities</a:t>
            </a:r>
            <a:endParaRPr/>
          </a:p>
        </p:txBody>
      </p:sp>
      <p:sp>
        <p:nvSpPr>
          <p:cNvPr id="344" name="Google Shape;344;p66"/>
          <p:cNvSpPr txBox="1"/>
          <p:nvPr/>
        </p:nvSpPr>
        <p:spPr>
          <a:xfrm>
            <a:off x="3759200" y="1387788"/>
            <a:ext cx="4781400" cy="3755700"/>
          </a:xfrm>
          <a:prstGeom prst="rect">
            <a:avLst/>
          </a:prstGeom>
          <a:noFill/>
          <a:ln>
            <a:noFill/>
          </a:ln>
        </p:spPr>
        <p:txBody>
          <a:bodyPr spcFirstLastPara="1" wrap="square" lIns="91425" tIns="45700" rIns="91425" bIns="45700" anchor="t" anchorCtr="0">
            <a:spAutoFit/>
          </a:bodyPr>
          <a:lstStyle/>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Robot </a:t>
            </a:r>
            <a:r>
              <a:rPr lang="en-US" b="1">
                <a:latin typeface="Merriweather"/>
                <a:ea typeface="Merriweather"/>
                <a:cs typeface="Merriweather"/>
                <a:sym typeface="Merriweather"/>
              </a:rPr>
              <a:t>Arm</a:t>
            </a:r>
            <a:r>
              <a:rPr lang="en-US" b="1" i="0" u="none" strike="noStrike" cap="none">
                <a:solidFill>
                  <a:srgbClr val="000000"/>
                </a:solidFill>
                <a:latin typeface="Merriweather"/>
                <a:ea typeface="Merriweather"/>
                <a:cs typeface="Merriweather"/>
                <a:sym typeface="Merriweather"/>
              </a:rPr>
              <a:t>:</a:t>
            </a:r>
            <a:r>
              <a:rPr lang="en-US" b="0" i="0" u="none" strike="noStrike" cap="none">
                <a:solidFill>
                  <a:srgbClr val="000000"/>
                </a:solidFill>
                <a:latin typeface="Merriweather"/>
                <a:ea typeface="Merriweather"/>
                <a:cs typeface="Merriweather"/>
                <a:sym typeface="Merriweather"/>
              </a:rPr>
              <a:t> xArm 1s with top-mounted mobile camera for workspace monitoring.</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Detection:</a:t>
            </a:r>
            <a:r>
              <a:rPr lang="en-US" b="0" i="0" u="none" strike="noStrike" cap="none">
                <a:solidFill>
                  <a:srgbClr val="000000"/>
                </a:solidFill>
                <a:latin typeface="Merriweather"/>
                <a:ea typeface="Merriweather"/>
                <a:cs typeface="Merriweather"/>
                <a:sym typeface="Merriweather"/>
              </a:rPr>
              <a:t> Camera feed → analyzed in real-time using </a:t>
            </a:r>
            <a:r>
              <a:rPr lang="en-US" b="1" i="0" u="none" strike="noStrike" cap="none">
                <a:solidFill>
                  <a:srgbClr val="000000"/>
                </a:solidFill>
                <a:latin typeface="Merriweather"/>
                <a:ea typeface="Merriweather"/>
                <a:cs typeface="Merriweather"/>
                <a:sym typeface="Merriweather"/>
              </a:rPr>
              <a:t>SSL model</a:t>
            </a:r>
            <a:r>
              <a:rPr lang="en-US" b="0" i="0" u="none" strike="noStrike" cap="none">
                <a:solidFill>
                  <a:srgbClr val="000000"/>
                </a:solidFill>
                <a:latin typeface="Merriweather"/>
                <a:ea typeface="Merriweather"/>
                <a:cs typeface="Merriweather"/>
                <a:sym typeface="Merriweather"/>
              </a:rPr>
              <a:t> (best-performing weights).</a:t>
            </a:r>
            <a:endParaRPr/>
          </a:p>
          <a:p>
            <a:pPr marL="0" marR="0" lvl="0" indent="0" algn="l" rtl="0">
              <a:lnSpc>
                <a:spcPct val="100000"/>
              </a:lnSpc>
              <a:spcBef>
                <a:spcPts val="0"/>
              </a:spcBef>
              <a:spcAft>
                <a:spcPts val="0"/>
              </a:spcAft>
              <a:buNone/>
            </a:pPr>
            <a:endParaRPr b="0" i="0" u="none" strike="noStrike" cap="none">
              <a:solidFill>
                <a:srgbClr val="000000"/>
              </a:solidFill>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i="0" u="none" strike="noStrike" cap="none">
                <a:solidFill>
                  <a:srgbClr val="000000"/>
                </a:solidFill>
                <a:latin typeface="Merriweather"/>
                <a:ea typeface="Merriweather"/>
                <a:cs typeface="Merriweather"/>
                <a:sym typeface="Merriweather"/>
              </a:rPr>
              <a:t>Pick-and-Place Automation:</a:t>
            </a:r>
            <a:r>
              <a:rPr lang="en-US" b="0" i="0" u="none" strike="noStrike" cap="none">
                <a:solidFill>
                  <a:srgbClr val="000000"/>
                </a:solidFill>
                <a:latin typeface="Merriweather"/>
                <a:ea typeface="Merriweather"/>
                <a:cs typeface="Merriweather"/>
                <a:sym typeface="Merriweather"/>
              </a:rPr>
              <a:t> </a:t>
            </a:r>
            <a:r>
              <a:rPr lang="en-US" i="0" u="none" strike="noStrike" cap="none">
                <a:solidFill>
                  <a:srgbClr val="000000"/>
                </a:solidFill>
                <a:latin typeface="Merriweather"/>
                <a:ea typeface="Merriweather"/>
                <a:cs typeface="Merriweather"/>
                <a:sym typeface="Merriweather"/>
              </a:rPr>
              <a:t>Arm moves only when vegetable is in range of </a:t>
            </a:r>
            <a:r>
              <a:rPr lang="en-US">
                <a:latin typeface="Merriweather"/>
                <a:ea typeface="Merriweather"/>
                <a:cs typeface="Merriweather"/>
                <a:sym typeface="Merriweather"/>
              </a:rPr>
              <a:t>camera</a:t>
            </a:r>
            <a:r>
              <a:rPr lang="en-US" i="0" u="none" strike="noStrike" cap="none">
                <a:solidFill>
                  <a:srgbClr val="000000"/>
                </a:solidFill>
                <a:latin typeface="Merriweather"/>
                <a:ea typeface="Merriweather"/>
                <a:cs typeface="Merriweather"/>
                <a:sym typeface="Merriweather"/>
              </a:rPr>
              <a:t>, deposits in class-specific container.</a:t>
            </a:r>
            <a:endParaRPr i="0" u="none" strike="noStrike" cap="none">
              <a:solidFill>
                <a:srgbClr val="000000"/>
              </a:solidFill>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a:latin typeface="Merriweather"/>
                <a:ea typeface="Merriweather"/>
                <a:cs typeface="Merriweather"/>
                <a:sym typeface="Merriweather"/>
              </a:rPr>
              <a:t>Continuous Operation:</a:t>
            </a:r>
            <a:r>
              <a:rPr lang="en-US">
                <a:latin typeface="Merriweather"/>
                <a:ea typeface="Merriweather"/>
                <a:cs typeface="Merriweather"/>
                <a:sym typeface="Merriweather"/>
              </a:rPr>
              <a:t> Sequentially processes multiple vegetables → maintains accuracy and speed.</a:t>
            </a:r>
            <a:endParaRPr>
              <a:latin typeface="Merriweather"/>
              <a:ea typeface="Merriweather"/>
              <a:cs typeface="Merriweather"/>
              <a:sym typeface="Merriweather"/>
            </a:endParaRPr>
          </a:p>
          <a:p>
            <a:pPr marL="457200" marR="0" lvl="0" indent="0" algn="l" rtl="0">
              <a:lnSpc>
                <a:spcPct val="100000"/>
              </a:lnSpc>
              <a:spcBef>
                <a:spcPts val="0"/>
              </a:spcBef>
              <a:spcAft>
                <a:spcPts val="0"/>
              </a:spcAft>
              <a:buNone/>
            </a:pPr>
            <a:endParaRPr>
              <a:latin typeface="Merriweather"/>
              <a:ea typeface="Merriweather"/>
              <a:cs typeface="Merriweather"/>
              <a:sym typeface="Merriweather"/>
            </a:endParaRPr>
          </a:p>
          <a:p>
            <a:pPr marL="285750" marR="0" lvl="0" indent="-260350" algn="l" rtl="0">
              <a:lnSpc>
                <a:spcPct val="100000"/>
              </a:lnSpc>
              <a:spcBef>
                <a:spcPts val="0"/>
              </a:spcBef>
              <a:spcAft>
                <a:spcPts val="0"/>
              </a:spcAft>
              <a:buClr>
                <a:srgbClr val="000000"/>
              </a:buClr>
              <a:buSzPts val="1400"/>
              <a:buFont typeface="Noto Sans Symbols"/>
              <a:buChar char="▪"/>
            </a:pPr>
            <a:r>
              <a:rPr lang="en-US" b="1">
                <a:latin typeface="Merriweather"/>
                <a:ea typeface="Merriweather"/>
                <a:cs typeface="Merriweather"/>
                <a:sym typeface="Merriweather"/>
              </a:rPr>
              <a:t>End-to-End Integration:</a:t>
            </a:r>
            <a:r>
              <a:rPr lang="en-US">
                <a:latin typeface="Merriweather"/>
                <a:ea typeface="Merriweather"/>
                <a:cs typeface="Merriweather"/>
                <a:sym typeface="Merriweather"/>
              </a:rPr>
              <a:t> Real-time perception, detection, and robotic actuation for fully automated sorting.</a:t>
            </a:r>
            <a:endParaRPr>
              <a:latin typeface="Merriweather"/>
              <a:ea typeface="Merriweather"/>
              <a:cs typeface="Merriweather"/>
              <a:sym typeface="Merriweather"/>
            </a:endParaRPr>
          </a:p>
        </p:txBody>
      </p:sp>
      <p:pic>
        <p:nvPicPr>
          <p:cNvPr id="345" name="Google Shape;345;p66"/>
          <p:cNvPicPr preferRelativeResize="0"/>
          <p:nvPr/>
        </p:nvPicPr>
        <p:blipFill>
          <a:blip r:embed="rId3">
            <a:alphaModFix/>
          </a:blip>
          <a:stretch>
            <a:fillRect/>
          </a:stretch>
        </p:blipFill>
        <p:spPr>
          <a:xfrm>
            <a:off x="0" y="1282875"/>
            <a:ext cx="3469600" cy="3860625"/>
          </a:xfrm>
          <a:prstGeom prst="rect">
            <a:avLst/>
          </a:prstGeom>
          <a:noFill/>
          <a:ln>
            <a:noFill/>
          </a:ln>
        </p:spPr>
      </p:pic>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349"/>
        <p:cNvGrpSpPr/>
        <p:nvPr/>
      </p:nvGrpSpPr>
      <p:grpSpPr>
        <a:xfrm>
          <a:off x="0" y="0"/>
          <a:ext cx="0" cy="0"/>
          <a:chOff x="0" y="0"/>
          <a:chExt cx="0" cy="0"/>
        </a:xfrm>
      </p:grpSpPr>
      <p:sp>
        <p:nvSpPr>
          <p:cNvPr id="350" name="Google Shape;350;p67"/>
          <p:cNvSpPr/>
          <p:nvPr/>
        </p:nvSpPr>
        <p:spPr>
          <a:xfrm>
            <a:off x="8156710" y="514350"/>
            <a:ext cx="472940" cy="118235"/>
          </a:xfrm>
          <a:custGeom>
            <a:avLst/>
            <a:gdLst/>
            <a:ahLst/>
            <a:cxnLst/>
            <a:rect l="l" t="t" r="r" b="b"/>
            <a:pathLst>
              <a:path w="945880" h="236470" extrusionOk="0">
                <a:moveTo>
                  <a:pt x="0" y="0"/>
                </a:moveTo>
                <a:lnTo>
                  <a:pt x="945880" y="0"/>
                </a:lnTo>
                <a:lnTo>
                  <a:pt x="945880" y="236470"/>
                </a:lnTo>
                <a:lnTo>
                  <a:pt x="0" y="23647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50" b="0" i="0" u="none" strike="noStrike" cap="none">
              <a:solidFill>
                <a:schemeClr val="dk1"/>
              </a:solidFill>
              <a:latin typeface="Calibri"/>
              <a:ea typeface="Calibri"/>
              <a:cs typeface="Calibri"/>
              <a:sym typeface="Calibri"/>
            </a:endParaRPr>
          </a:p>
        </p:txBody>
      </p:sp>
      <p:sp>
        <p:nvSpPr>
          <p:cNvPr id="351" name="Google Shape;351;p67"/>
          <p:cNvSpPr/>
          <p:nvPr/>
        </p:nvSpPr>
        <p:spPr>
          <a:xfrm>
            <a:off x="1443957" y="412244"/>
            <a:ext cx="2747361" cy="4098418"/>
          </a:xfrm>
          <a:custGeom>
            <a:avLst/>
            <a:gdLst/>
            <a:ahLst/>
            <a:cxnLst/>
            <a:rect l="l" t="t" r="r" b="b"/>
            <a:pathLst>
              <a:path w="5968747" h="8903970" extrusionOk="0">
                <a:moveTo>
                  <a:pt x="2988310" y="8903970"/>
                </a:moveTo>
                <a:lnTo>
                  <a:pt x="2980563" y="8903970"/>
                </a:lnTo>
                <a:cubicBezTo>
                  <a:pt x="2246376" y="8903970"/>
                  <a:pt x="1538224" y="8630412"/>
                  <a:pt x="986790" y="8133714"/>
                </a:cubicBezTo>
                <a:cubicBezTo>
                  <a:pt x="420243" y="7623429"/>
                  <a:pt x="76581" y="6921881"/>
                  <a:pt x="19177" y="6158230"/>
                </a:cubicBezTo>
                <a:lnTo>
                  <a:pt x="16510" y="6121781"/>
                </a:lnTo>
                <a:cubicBezTo>
                  <a:pt x="4064" y="5781802"/>
                  <a:pt x="0" y="2921762"/>
                  <a:pt x="23876" y="2678811"/>
                </a:cubicBezTo>
                <a:cubicBezTo>
                  <a:pt x="96647" y="1941195"/>
                  <a:pt x="439801" y="1261618"/>
                  <a:pt x="990092" y="765302"/>
                </a:cubicBezTo>
                <a:cubicBezTo>
                  <a:pt x="1537208" y="271780"/>
                  <a:pt x="2242439" y="0"/>
                  <a:pt x="2975737" y="0"/>
                </a:cubicBezTo>
                <a:lnTo>
                  <a:pt x="2992882" y="0"/>
                </a:lnTo>
                <a:cubicBezTo>
                  <a:pt x="3726180" y="0"/>
                  <a:pt x="4431411" y="271780"/>
                  <a:pt x="4978527" y="765302"/>
                </a:cubicBezTo>
                <a:cubicBezTo>
                  <a:pt x="5528945" y="1261745"/>
                  <a:pt x="5871972" y="1941195"/>
                  <a:pt x="5944743" y="2678684"/>
                </a:cubicBezTo>
                <a:cubicBezTo>
                  <a:pt x="5968747" y="2921762"/>
                  <a:pt x="5964555" y="5782310"/>
                  <a:pt x="5952109" y="6122289"/>
                </a:cubicBezTo>
                <a:lnTo>
                  <a:pt x="5951982" y="6125083"/>
                </a:lnTo>
                <a:lnTo>
                  <a:pt x="5949442" y="6158230"/>
                </a:lnTo>
                <a:cubicBezTo>
                  <a:pt x="5892038" y="6921881"/>
                  <a:pt x="5548376" y="7623429"/>
                  <a:pt x="4981829" y="8133715"/>
                </a:cubicBezTo>
                <a:cubicBezTo>
                  <a:pt x="4430522" y="8630412"/>
                  <a:pt x="3722497" y="8903970"/>
                  <a:pt x="2988310" y="8903970"/>
                </a:cubicBezTo>
                <a:close/>
                <a:moveTo>
                  <a:pt x="2975737" y="19050"/>
                </a:moveTo>
                <a:cubicBezTo>
                  <a:pt x="2247138" y="19050"/>
                  <a:pt x="1546479" y="289052"/>
                  <a:pt x="1002792" y="779399"/>
                </a:cubicBezTo>
                <a:cubicBezTo>
                  <a:pt x="455930" y="1272540"/>
                  <a:pt x="115062" y="1947799"/>
                  <a:pt x="42926" y="2680589"/>
                </a:cubicBezTo>
                <a:cubicBezTo>
                  <a:pt x="19050" y="2923286"/>
                  <a:pt x="23241" y="5781167"/>
                  <a:pt x="35560" y="6121019"/>
                </a:cubicBezTo>
                <a:lnTo>
                  <a:pt x="35687" y="6123686"/>
                </a:lnTo>
                <a:lnTo>
                  <a:pt x="38227" y="6156706"/>
                </a:lnTo>
                <a:cubicBezTo>
                  <a:pt x="95250" y="6915403"/>
                  <a:pt x="436626" y="7612507"/>
                  <a:pt x="999617" y="8119490"/>
                </a:cubicBezTo>
                <a:cubicBezTo>
                  <a:pt x="1547622" y="8613012"/>
                  <a:pt x="2251202" y="8884793"/>
                  <a:pt x="2980690" y="8884793"/>
                </a:cubicBezTo>
                <a:lnTo>
                  <a:pt x="2988437" y="8884793"/>
                </a:lnTo>
                <a:cubicBezTo>
                  <a:pt x="3717925" y="8884793"/>
                  <a:pt x="4421378" y="8613012"/>
                  <a:pt x="4969383" y="8119490"/>
                </a:cubicBezTo>
                <a:cubicBezTo>
                  <a:pt x="5532374" y="7612507"/>
                  <a:pt x="5873750" y="6915403"/>
                  <a:pt x="5930773" y="6156706"/>
                </a:cubicBezTo>
                <a:lnTo>
                  <a:pt x="5933313" y="6121527"/>
                </a:lnTo>
                <a:cubicBezTo>
                  <a:pt x="5945632" y="5781675"/>
                  <a:pt x="5949950" y="2923159"/>
                  <a:pt x="5925947" y="2680462"/>
                </a:cubicBezTo>
                <a:cubicBezTo>
                  <a:pt x="5853684" y="1947672"/>
                  <a:pt x="5512816" y="1272540"/>
                  <a:pt x="4965954" y="779272"/>
                </a:cubicBezTo>
                <a:cubicBezTo>
                  <a:pt x="4422140" y="289052"/>
                  <a:pt x="3721481" y="19050"/>
                  <a:pt x="2992882" y="19050"/>
                </a:cubicBezTo>
                <a:lnTo>
                  <a:pt x="2975737" y="19050"/>
                </a:lnTo>
                <a:close/>
              </a:path>
            </a:pathLst>
          </a:custGeom>
          <a:solidFill>
            <a:srgbClr val="FD622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450" b="0" i="0" u="none" strike="noStrike" cap="none">
              <a:solidFill>
                <a:schemeClr val="dk1"/>
              </a:solidFill>
              <a:latin typeface="Calibri"/>
              <a:ea typeface="Calibri"/>
              <a:cs typeface="Calibri"/>
              <a:sym typeface="Calibri"/>
            </a:endParaRPr>
          </a:p>
        </p:txBody>
      </p:sp>
      <p:pic>
        <p:nvPicPr>
          <p:cNvPr id="352" name="Google Shape;352;p67" descr="A white paper with small dots&#10;&#10;AI-generated content may be incorrect."/>
          <p:cNvPicPr preferRelativeResize="0"/>
          <p:nvPr/>
        </p:nvPicPr>
        <p:blipFill rotWithShape="1">
          <a:blip r:embed="rId4">
            <a:alphaModFix/>
          </a:blip>
          <a:srcRect/>
          <a:stretch/>
        </p:blipFill>
        <p:spPr>
          <a:xfrm>
            <a:off x="-52206" y="1"/>
            <a:ext cx="9655454" cy="5127094"/>
          </a:xfrm>
          <a:prstGeom prst="rect">
            <a:avLst/>
          </a:prstGeom>
          <a:noFill/>
          <a:ln>
            <a:noFill/>
          </a:ln>
        </p:spPr>
      </p:pic>
    </p:spTree>
  </p:cSld>
  <p:clrMapOvr>
    <a:masterClrMapping/>
  </p:clrMapOvr>
  <p:transition spd="med">
    <p:push/>
  </p:transition>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1334</Words>
  <Application>Microsoft Office PowerPoint</Application>
  <PresentationFormat>On-screen Show (16:9)</PresentationFormat>
  <Paragraphs>270</Paragraphs>
  <Slides>27</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Noto Sans Symbols</vt:lpstr>
      <vt:lpstr>Merriweather</vt:lpstr>
      <vt:lpstr>Times New Roman</vt:lpstr>
      <vt:lpstr>Arial</vt:lpstr>
      <vt:lpstr>Calibri</vt:lpstr>
      <vt:lpstr>Roboto</vt:lpstr>
      <vt:lpstr>Merriweather Light</vt:lpstr>
      <vt:lpstr>Paradigm</vt:lpstr>
      <vt:lpstr>Office Theme</vt:lpstr>
      <vt:lpstr>Capstone Project Presentation</vt:lpstr>
      <vt:lpstr>PowerPoint Presentation</vt:lpstr>
      <vt:lpstr>Let’s Introduce ourselves</vt:lpstr>
      <vt:lpstr>Contents at a  glance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Dataset distribution table for Single Class images </vt:lpstr>
      <vt:lpstr>Histogram of the Dataset Distribution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Presentation</dc:title>
  <cp:lastModifiedBy>F Rahaman Shams</cp:lastModifiedBy>
  <cp:revision>7</cp:revision>
  <dcterms:modified xsi:type="dcterms:W3CDTF">2025-10-29T03:31:08Z</dcterms:modified>
</cp:coreProperties>
</file>